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p.naver.com/p/entry/place/13163313" TargetMode="Externa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hyperlink" Target="https://map.naver.com/p/entry/place/1103726684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uge.hsg.go.kr/kor/main/index.html" TargetMode="Externa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p.naver.com/p/entry/place/15517699" TargetMode="External"/><Relationship Id="rId3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map.naver.com/p/entry/place/1002109100" TargetMode="External"/><Relationship Id="rId4" Type="http://schemas.openxmlformats.org/officeDocument/2006/relationships/image" Target="../media/image12.jpg"/><Relationship Id="rId5" Type="http://schemas.openxmlformats.org/officeDocument/2006/relationships/hyperlink" Target="https://map.naver.com/p/entry/place/1807711050" TargetMode="External"/><Relationship Id="rId6" Type="http://schemas.openxmlformats.org/officeDocument/2006/relationships/image" Target="../media/image13.jpg"/><Relationship Id="rId7" Type="http://schemas.openxmlformats.org/officeDocument/2006/relationships/hyperlink" Target="https://map.naver.com/p/entry/place/1751325235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hyperlink" Target="https://map.naver.com/p/entry/place/1916559389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hyperlink" Target="https://map.naver.com/p/entry/place/1074121921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p.naver.com/p/entry/place/37370416" TargetMode="External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hyperlink" Target="https://map.naver.com/p/entry/place/1890737303" TargetMode="External"/><Relationship Id="rId4" Type="http://schemas.openxmlformats.org/officeDocument/2006/relationships/image" Target="../media/image26.jpg"/><Relationship Id="rId5" Type="http://schemas.openxmlformats.org/officeDocument/2006/relationships/hyperlink" Target="https://map.naver.com/p/entry/place/2045083035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jpg"/><Relationship Id="rId4" Type="http://schemas.openxmlformats.org/officeDocument/2006/relationships/image" Target="../media/image7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4.jpg"/><Relationship Id="rId8" Type="http://schemas.openxmlformats.org/officeDocument/2006/relationships/image" Target="../media/image17.jpg"/><Relationship Id="rId9" Type="http://schemas.openxmlformats.org/officeDocument/2006/relationships/image" Target="../media/image1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2.jpg"/><Relationship Id="rId4" Type="http://schemas.openxmlformats.org/officeDocument/2006/relationships/image" Target="../media/image2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292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400" b="1" spc="6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기업파트너십팀  ·  2026 하반기 워크샵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6868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7200" b="1" spc="-2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Talk. Play. </a:t>
            </a:r>
            <a:r>
              <a:rPr sz="7200" b="1" spc="-25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Heal.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2800" b="0" spc="-3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일은 잠깐 내려놓고, 우리끼리 실컷 떠들자.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852928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6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2026.11.12 (목) – 11.13 (금)   ·   강원 횡성   ·   10명</a:t>
            </a:r>
          </a:p>
        </p:txBody>
      </p:sp>
      <p:pic>
        <p:nvPicPr>
          <p:cNvPr id="6" name="Picture 5" descr="횡성호의 잔잔한 호수와 산 풍경"/>
          <p:cNvPicPr>
            <a:picLocks noChangeAspect="1"/>
          </p:cNvPicPr>
          <p:nvPr/>
        </p:nvPicPr>
        <p:blipFill>
          <a:blip r:embed="rId2"/>
          <a:srcRect t="36176" b="22172"/>
          <a:stretch>
            <a:fillRect/>
          </a:stretch>
        </p:blipFill>
        <p:spPr>
          <a:xfrm>
            <a:off x="0" y="3474720"/>
            <a:ext cx="12191695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6263640"/>
            <a:ext cx="222097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22209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횡성호 · Hoengseong Lake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6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WHY HOENGSEONG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6583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2000"/>
              </a:lnSpc>
            </a:pPr>
            <a:r>
              <a:rPr sz="4600" b="1" spc="-10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일 얘기는 잠시 접고,</a:t>
            </a:r>
          </a:p>
          <a:p>
            <a:pPr algn="l" eaLnBrk="0" latinLnBrk="0">
              <a:lnSpc>
                <a:spcPct val="112000"/>
              </a:lnSpc>
            </a:pPr>
            <a:r>
              <a:rPr sz="4600" b="1" spc="-10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우리끼리 실컷 떠들자.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6583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5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늘 말이 넘치는 우리 팀, 이번엔 그 에너지를 일 말고 서로에게 쓰는 시간이에요.</a:t>
            </a:r>
          </a:p>
          <a:p>
            <a:pPr algn="l" eaLnBrk="0" latinLnBrk="0">
              <a:lnSpc>
                <a:spcPct val="140000"/>
              </a:lnSpc>
            </a:pPr>
            <a:r>
              <a:rPr sz="15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먹으면서 떠들고, 달리면서 소리 지르고, 걸으며 수다 떨고,</a:t>
            </a:r>
          </a:p>
          <a:p>
            <a:pPr algn="l" eaLnBrk="0" latinLnBrk="0">
              <a:lnSpc>
                <a:spcPct val="140000"/>
              </a:lnSpc>
            </a:pPr>
            <a:r>
              <a:rPr sz="15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밤엔 불 앞에 둘러앉아 못다 한 이야기까지!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96012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6400" b="1" spc="-20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874519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DAYS · 1박 2일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96012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6400" b="1" spc="-20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1874519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PEOPLE · 함께 떠나는 우리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56032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6400" b="1" spc="-20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4747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ACTIVITIES · 성당 · 루지 ·</a:t>
            </a:r>
            <a:br>
              <a:rPr sz="1200"/>
            </a:b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레크 · 러닝 · 산책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256032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6400" b="1" spc="-20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34747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한우 무한리필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34840"/>
            <a:ext cx="3484778" cy="2011680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200" b="1" spc="1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TALK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92624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수다는 풀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4126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직함 말고 이름으로. 차 안에서 ·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식탁에서 · 불 앞에서 끝없이 떠들어요.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3458" y="4434840"/>
            <a:ext cx="3484778" cy="2011680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7778" y="4663440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200" b="1" spc="1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7778" y="4992624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일은 OFF, 놀기는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7778" y="554126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메일도, 보고도, 일 얘기도 이틀만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내려놓고 오롯이 우리끼리 놀아요.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6836" y="4434840"/>
            <a:ext cx="3484778" cy="2011680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1156" y="4663440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200" b="1" spc="1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HEAL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1156" y="4992624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떠들고 놀수록 충전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1156" y="5541264"/>
            <a:ext cx="29361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웃고, 먹고, 달리고, 놀다 보면 돌아오는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길엔 한결 가벼워져 있을 거예요.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8580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500" b="1" spc="10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11.12 THU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1560"/>
            <a:ext cx="12191695" cy="2834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95000"/>
              </a:lnSpc>
            </a:pPr>
            <a:r>
              <a:rPr sz="19000" b="1" spc="-9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설레는 첫 하루 — 걷고, 먹고, 달리고, 불멍까지.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31441" y="4800600"/>
            <a:ext cx="11277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31441" y="4800600"/>
            <a:ext cx="112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풍수원성당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87217" y="4800600"/>
            <a:ext cx="11277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7217" y="4800600"/>
            <a:ext cx="112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지은네식당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2993" y="4800600"/>
            <a:ext cx="9753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2993" y="4800600"/>
            <a:ext cx="975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횡성루지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6369" y="480060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6369" y="480060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장보기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7345" y="4800600"/>
            <a:ext cx="6705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7345" y="4800600"/>
            <a:ext cx="67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카페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95921" y="4800600"/>
            <a:ext cx="11277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5921" y="4800600"/>
            <a:ext cx="112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호숫길펜션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1697" y="4800600"/>
            <a:ext cx="178054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1697" y="4800600"/>
            <a:ext cx="17805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바베큐 · 레크 · 불멍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3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08:00 – 11:00  본부 · 시흥 출발, 횡성으로 이동 (차량 2대)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11:00 – 12:00</a:t>
            </a:r>
            <a:r>
              <a:rPr sz="13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TEAM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97680" cy="569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8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풍수원성당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86788"/>
            <a:ext cx="429768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강원도 최초의 본당, 1907년 완공된 붉은 벽돌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성당. 첫 일정은 성당 앞을 함께 걸으며 수다로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몸풀기.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32657"/>
            <a:ext cx="3524250" cy="384048"/>
          </a:xfrm>
          <a:prstGeom prst="roundRect">
            <a:avLst>
              <a:gd name="adj" fmla="val 41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232657"/>
            <a:ext cx="32042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1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HEAL POINT  </a:t>
            </a:r>
            <a:r>
              <a:rPr sz="13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걸으며 수다 · 같이 사진 한 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0857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주소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5429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횡성군 서원면 경강로유현1길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11149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5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11:00 – 12:00 (약 1시간)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61441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66927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1554480" y="566013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네이버지도에서 보기 ›</a:t>
            </a:r>
          </a:p>
        </p:txBody>
      </p:sp>
      <p:pic>
        <p:nvPicPr>
          <p:cNvPr id="16" name="Picture 15" descr="풍수원성당 외관"/>
          <p:cNvPicPr>
            <a:picLocks noChangeAspect="1"/>
          </p:cNvPicPr>
          <p:nvPr/>
        </p:nvPicPr>
        <p:blipFill>
          <a:blip r:embed="rId3"/>
          <a:srcRect l="28144" r="28144"/>
          <a:stretch>
            <a:fillRect/>
          </a:stretch>
        </p:blipFill>
        <p:spPr>
          <a:xfrm>
            <a:off x="5257800" y="548640"/>
            <a:ext cx="2743200" cy="5760720"/>
          </a:xfrm>
          <a:prstGeom prst="roundRect">
            <a:avLst>
              <a:gd name="adj" fmla="val 6000"/>
            </a:avLst>
          </a:prstGeom>
        </p:spPr>
      </p:pic>
      <p:sp>
        <p:nvSpPr>
          <p:cNvPr id="17" name="Rounded Rectangle 16"/>
          <p:cNvSpPr/>
          <p:nvPr/>
        </p:nvSpPr>
        <p:spPr>
          <a:xfrm>
            <a:off x="5404104" y="5852160"/>
            <a:ext cx="9039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5852160"/>
            <a:ext cx="9039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성당 외관</a:t>
            </a:r>
          </a:p>
        </p:txBody>
      </p:sp>
      <p:pic>
        <p:nvPicPr>
          <p:cNvPr id="19" name="Picture 18" descr="풍수원성당 내부 예배당"/>
          <p:cNvPicPr>
            <a:picLocks noChangeAspect="1"/>
          </p:cNvPicPr>
          <p:nvPr/>
        </p:nvPicPr>
        <p:blipFill>
          <a:blip r:embed="rId4"/>
          <a:srcRect l="30106" r="30106"/>
          <a:stretch>
            <a:fillRect/>
          </a:stretch>
        </p:blipFill>
        <p:spPr>
          <a:xfrm>
            <a:off x="8110727" y="548640"/>
            <a:ext cx="3438144" cy="5760720"/>
          </a:xfrm>
          <a:prstGeom prst="roundRect">
            <a:avLst>
              <a:gd name="adj" fmla="val 4787"/>
            </a:avLst>
          </a:prstGeom>
        </p:spPr>
      </p:pic>
      <p:sp>
        <p:nvSpPr>
          <p:cNvPr id="20" name="Rounded Rectangle 19"/>
          <p:cNvSpPr/>
          <p:nvPr/>
        </p:nvSpPr>
        <p:spPr>
          <a:xfrm>
            <a:off x="8257031" y="5852160"/>
            <a:ext cx="9039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5852160"/>
            <a:ext cx="9039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성당 내부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지은네식당 두부 요리"/>
          <p:cNvPicPr>
            <a:picLocks noChangeAspect="1"/>
          </p:cNvPicPr>
          <p:nvPr/>
        </p:nvPicPr>
        <p:blipFill>
          <a:blip r:embed="rId2"/>
          <a:srcRect l="19527" r="19527"/>
          <a:stretch>
            <a:fillRect/>
          </a:stretch>
        </p:blipFill>
        <p:spPr>
          <a:xfrm>
            <a:off x="640080" y="548640"/>
            <a:ext cx="3530498" cy="5760720"/>
          </a:xfrm>
          <a:prstGeom prst="roundRect">
            <a:avLst>
              <a:gd name="adj" fmla="val 4662"/>
            </a:avLst>
          </a:prstGeom>
        </p:spPr>
      </p:pic>
      <p:sp>
        <p:nvSpPr>
          <p:cNvPr id="3" name="Rounded Rectangle 2"/>
          <p:cNvSpPr/>
          <p:nvPr/>
        </p:nvSpPr>
        <p:spPr>
          <a:xfrm>
            <a:off x="786384" y="5852159"/>
            <a:ext cx="151612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852159"/>
            <a:ext cx="151612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두부 한 점 + 잡곡밥</a:t>
            </a:r>
          </a:p>
        </p:txBody>
      </p:sp>
      <p:pic>
        <p:nvPicPr>
          <p:cNvPr id="5" name="Picture 4" descr="지은네식당 외관"/>
          <p:cNvPicPr>
            <a:picLocks noChangeAspect="1"/>
          </p:cNvPicPr>
          <p:nvPr/>
        </p:nvPicPr>
        <p:blipFill>
          <a:blip r:embed="rId3"/>
          <a:srcRect l="26155" r="26155"/>
          <a:stretch>
            <a:fillRect/>
          </a:stretch>
        </p:blipFill>
        <p:spPr>
          <a:xfrm>
            <a:off x="4280306" y="548640"/>
            <a:ext cx="2394813" cy="2825496"/>
          </a:xfrm>
          <a:prstGeom prst="roundRect">
            <a:avLst>
              <a:gd name="adj" fmla="val 6872"/>
            </a:avLst>
          </a:prstGeom>
        </p:spPr>
      </p:pic>
      <p:sp>
        <p:nvSpPr>
          <p:cNvPr id="6" name="Rounded Rectangle 5"/>
          <p:cNvSpPr/>
          <p:nvPr/>
        </p:nvSpPr>
        <p:spPr>
          <a:xfrm>
            <a:off x="4408322" y="2935224"/>
            <a:ext cx="9039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8322" y="2935224"/>
            <a:ext cx="9039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식당 외관</a:t>
            </a:r>
          </a:p>
        </p:txBody>
      </p:sp>
      <p:pic>
        <p:nvPicPr>
          <p:cNvPr id="8" name="Picture 7" descr="지은네식당 돌솥두부정식 한 상 차림"/>
          <p:cNvPicPr>
            <a:picLocks noChangeAspect="1"/>
          </p:cNvPicPr>
          <p:nvPr/>
        </p:nvPicPr>
        <p:blipFill>
          <a:blip r:embed="rId4"/>
          <a:srcRect l="20627" r="20627"/>
          <a:stretch>
            <a:fillRect/>
          </a:stretch>
        </p:blipFill>
        <p:spPr>
          <a:xfrm>
            <a:off x="4280306" y="3483864"/>
            <a:ext cx="2394813" cy="2825496"/>
          </a:xfrm>
          <a:prstGeom prst="roundRect">
            <a:avLst>
              <a:gd name="adj" fmla="val 6872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4408322" y="5870448"/>
            <a:ext cx="149707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8322" y="5870448"/>
            <a:ext cx="14970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돌솥두부정식 한 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73152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4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12:30 – 13:30</a:t>
            </a:r>
            <a:r>
              <a:rPr sz="13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   LUNCH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188720"/>
            <a:ext cx="4462272" cy="569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800" b="1" spc="-8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지은네식당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986788"/>
            <a:ext cx="446227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우천면의 두부 요리집. 따끈한 돌솥두부정식으로</a:t>
            </a:r>
            <a:br>
              <a:rPr sz="1700"/>
            </a:br>
            <a:r>
              <a:rPr sz="17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든든하게 첫 끼를 채워요.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2908808"/>
            <a:ext cx="3655060" cy="384048"/>
          </a:xfrm>
          <a:prstGeom prst="roundRect">
            <a:avLst>
              <a:gd name="adj" fmla="val 41666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908808"/>
            <a:ext cx="33350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100" b="1">
                <a:solidFill>
                  <a:srgbClr val="2997FF"/>
                </a:solidFill>
                <a:latin typeface="Noto Sans KR"/>
                <a:ea typeface="Noto Sans KR"/>
                <a:cs typeface="Noto Sans KR"/>
              </a:rPr>
              <a:t>HEAL POINT  </a:t>
            </a: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맛있는 밥상 앞에서 터지는 수다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4608576"/>
            <a:ext cx="4462272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663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메뉴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65429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돌솥두부정식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5111496"/>
            <a:ext cx="4462272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516635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주소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15721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횡성군 우천면 수남로248번길 39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5614416"/>
            <a:ext cx="4462272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566927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4" name="TextBox 23">
            <a:hlinkClick r:id="rId5"/>
          </p:cNvPr>
          <p:cNvSpPr txBox="1"/>
          <p:nvPr/>
        </p:nvSpPr>
        <p:spPr>
          <a:xfrm>
            <a:off x="8001000" y="566013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2997FF"/>
                </a:solidFill>
                <a:latin typeface="Noto Sans KR"/>
                <a:ea typeface="Noto Sans KR"/>
                <a:cs typeface="Noto Sans KR"/>
              </a:rPr>
              <a:t>네이버지도에서 보기 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13:40 – 14:40</a:t>
            </a:r>
            <a:r>
              <a:rPr sz="13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TEAM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97680" cy="569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8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횡성루지체험장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86788"/>
            <a:ext cx="429768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내리막을 달리며 스트레스를 시원하게 날리는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시간. 2회 탑승 기준 총 50분 정도 걸려요.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08808"/>
            <a:ext cx="4133849" cy="384048"/>
          </a:xfrm>
          <a:prstGeom prst="roundRect">
            <a:avLst>
              <a:gd name="adj" fmla="val 41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08808"/>
            <a:ext cx="38138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1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HEAL POINT  </a:t>
            </a:r>
            <a:r>
              <a:rPr sz="13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소리 질러도 되는 시간 · 이번엔 스피드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0857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체험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5429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루지 2회 탑승 (총 약 50분)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11149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5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주소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횡성군 우천면 전재로 407-6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61441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66927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링크</a:t>
            </a:r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1554480" y="566013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공식 홈페이지 ›</a:t>
            </a:r>
          </a:p>
        </p:txBody>
      </p:sp>
      <p:pic>
        <p:nvPicPr>
          <p:cNvPr id="16" name="Picture 15" descr="횡성루지체험장 코스를 달리는 루지"/>
          <p:cNvPicPr>
            <a:picLocks noChangeAspect="1"/>
          </p:cNvPicPr>
          <p:nvPr/>
        </p:nvPicPr>
        <p:blipFill>
          <a:blip r:embed="rId3"/>
          <a:srcRect l="18057" r="18057"/>
          <a:stretch>
            <a:fillRect/>
          </a:stretch>
        </p:blipFill>
        <p:spPr>
          <a:xfrm>
            <a:off x="5257800" y="548640"/>
            <a:ext cx="3680277" cy="5760720"/>
          </a:xfrm>
          <a:prstGeom prst="roundRect">
            <a:avLst>
              <a:gd name="adj" fmla="val 4472"/>
            </a:avLst>
          </a:prstGeom>
        </p:spPr>
      </p:pic>
      <p:sp>
        <p:nvSpPr>
          <p:cNvPr id="17" name="Rounded Rectangle 16"/>
          <p:cNvSpPr/>
          <p:nvPr/>
        </p:nvSpPr>
        <p:spPr>
          <a:xfrm>
            <a:off x="5404104" y="5852159"/>
            <a:ext cx="128879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5852159"/>
            <a:ext cx="12887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횡성루지체험장</a:t>
            </a:r>
          </a:p>
        </p:txBody>
      </p:sp>
      <p:pic>
        <p:nvPicPr>
          <p:cNvPr id="19" name="Picture 18" descr="내리막 코스를 달리는 루지"/>
          <p:cNvPicPr>
            <a:picLocks noChangeAspect="1"/>
          </p:cNvPicPr>
          <p:nvPr/>
        </p:nvPicPr>
        <p:blipFill>
          <a:blip r:embed="rId4"/>
          <a:srcRect l="5741" r="5741"/>
          <a:stretch>
            <a:fillRect/>
          </a:stretch>
        </p:blipFill>
        <p:spPr>
          <a:xfrm>
            <a:off x="9047805" y="548640"/>
            <a:ext cx="2501066" cy="2825496"/>
          </a:xfrm>
          <a:prstGeom prst="roundRect">
            <a:avLst>
              <a:gd name="adj" fmla="val 6580"/>
            </a:avLst>
          </a:prstGeom>
        </p:spPr>
      </p:pic>
      <p:sp>
        <p:nvSpPr>
          <p:cNvPr id="20" name="Rounded Rectangle 19"/>
          <p:cNvSpPr/>
          <p:nvPr/>
        </p:nvSpPr>
        <p:spPr>
          <a:xfrm>
            <a:off x="9175821" y="2935224"/>
            <a:ext cx="10436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5821" y="2935224"/>
            <a:ext cx="10436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내리막 질주</a:t>
            </a:r>
          </a:p>
        </p:txBody>
      </p:sp>
      <p:pic>
        <p:nvPicPr>
          <p:cNvPr id="22" name="Picture 21" descr="탑승을 기다리는 루지 카트들"/>
          <p:cNvPicPr>
            <a:picLocks noChangeAspect="1"/>
          </p:cNvPicPr>
          <p:nvPr/>
        </p:nvPicPr>
        <p:blipFill>
          <a:blip r:embed="rId5"/>
          <a:srcRect l="5741" r="5741"/>
          <a:stretch>
            <a:fillRect/>
          </a:stretch>
        </p:blipFill>
        <p:spPr>
          <a:xfrm>
            <a:off x="9047805" y="3483864"/>
            <a:ext cx="2501066" cy="2825496"/>
          </a:xfrm>
          <a:prstGeom prst="roundRect">
            <a:avLst>
              <a:gd name="adj" fmla="val 6580"/>
            </a:avLst>
          </a:prstGeom>
        </p:spPr>
      </p:pic>
      <p:sp>
        <p:nvSpPr>
          <p:cNvPr id="23" name="Rounded Rectangle 22"/>
          <p:cNvSpPr/>
          <p:nvPr/>
        </p:nvSpPr>
        <p:spPr>
          <a:xfrm>
            <a:off x="9175821" y="5870448"/>
            <a:ext cx="121767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5821" y="5870448"/>
            <a:ext cx="12176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출발 대기 라인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14:50 – 15:30</a:t>
            </a:r>
            <a:r>
              <a:rPr sz="13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GROCERY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9768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6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하나로마트</a:t>
            </a:r>
            <a:br>
              <a:rPr sz="3600"/>
            </a:br>
            <a:r>
              <a:rPr sz="36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동횡성농협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96312"/>
            <a:ext cx="429768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저녁 바베큐 재료를 다 같이 고르는 시간.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카트는 한 대, 의견은 열 개.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18332"/>
            <a:ext cx="3350260" cy="384048"/>
          </a:xfrm>
          <a:prstGeom prst="roundRect">
            <a:avLst>
              <a:gd name="adj" fmla="val 41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418332"/>
            <a:ext cx="30302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1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HEAL POINT  </a:t>
            </a:r>
            <a:r>
              <a:rPr sz="13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같이 장 보는 소소한 즐거움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0857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미션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5429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저녁 바베큐 재료 장보기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11149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5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주소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횡성군 우천면 수남로 356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614416"/>
            <a:ext cx="429768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66927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1554480" y="566013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네이버지도에서 보기 ›</a:t>
            </a:r>
          </a:p>
        </p:txBody>
      </p:sp>
      <p:pic>
        <p:nvPicPr>
          <p:cNvPr id="16" name="Picture 15" descr="하나로마트 동횡성농협 외관"/>
          <p:cNvPicPr>
            <a:picLocks noChangeAspect="1"/>
          </p:cNvPicPr>
          <p:nvPr/>
        </p:nvPicPr>
        <p:blipFill>
          <a:blip r:embed="rId3"/>
          <a:srcRect l="9048" r="9048"/>
          <a:stretch>
            <a:fillRect/>
          </a:stretch>
        </p:blipFill>
        <p:spPr>
          <a:xfrm>
            <a:off x="5257800" y="548640"/>
            <a:ext cx="6291072" cy="5760720"/>
          </a:xfrm>
          <a:prstGeom prst="roundRect">
            <a:avLst>
              <a:gd name="adj" fmla="val 2857"/>
            </a:avLst>
          </a:prstGeom>
        </p:spPr>
      </p:pic>
      <p:sp>
        <p:nvSpPr>
          <p:cNvPr id="17" name="Rounded Rectangle 16"/>
          <p:cNvSpPr/>
          <p:nvPr/>
        </p:nvSpPr>
        <p:spPr>
          <a:xfrm>
            <a:off x="5404104" y="5852160"/>
            <a:ext cx="17421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5852160"/>
            <a:ext cx="17421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동횡성농협 하나로마트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300" b="1" spc="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15:40 – 17:00</a:t>
            </a:r>
            <a:r>
              <a:rPr sz="13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CAFÉ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58887" y="512064"/>
            <a:ext cx="608330" cy="27432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58887" y="512064"/>
            <a:ext cx="60833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택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10000"/>
              </a:lnSpc>
            </a:pPr>
            <a:r>
              <a:rPr sz="40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오늘의 카페는 어디?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6916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분위기 다른 세 곳 중 한 곳. 현장에서 팀 컨디션 따라 골라요.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484778" cy="434340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타이페이909 카페 내부"/>
          <p:cNvPicPr>
            <a:picLocks noChangeAspect="1"/>
          </p:cNvPicPr>
          <p:nvPr/>
        </p:nvPicPr>
        <p:blipFill>
          <a:blip r:embed="rId2"/>
          <a:srcRect t="22651" b="42065"/>
          <a:stretch>
            <a:fillRect/>
          </a:stretch>
        </p:blipFill>
        <p:spPr>
          <a:xfrm>
            <a:off x="749808" y="2304288"/>
            <a:ext cx="3265322" cy="1536192"/>
          </a:xfrm>
          <a:prstGeom prst="roundRect">
            <a:avLst>
              <a:gd name="adj" fmla="val 7142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896112" y="3383280"/>
            <a:ext cx="9039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383280"/>
            <a:ext cx="9039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카페 내부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04164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대만식 카페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315968"/>
            <a:ext cx="297271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타이페이909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791456"/>
            <a:ext cx="297271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대만 사장님이 운영하는 카페. 버블티와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대만식 디저트가 시그니처예요.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82472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11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횡성군 우천면 전재로16번길 81</a:t>
            </a:r>
          </a:p>
        </p:txBody>
      </p:sp>
      <p:sp>
        <p:nvSpPr>
          <p:cNvPr id="15" name="TextBox 14">
            <a:hlinkClick r:id="rId3"/>
          </p:cNvPr>
          <p:cNvSpPr txBox="1"/>
          <p:nvPr/>
        </p:nvSpPr>
        <p:spPr>
          <a:xfrm>
            <a:off x="896112" y="6080760"/>
            <a:ext cx="29727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지도 보기 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3458" y="2194560"/>
            <a:ext cx="3484778" cy="434340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호수길133 카페 정원"/>
          <p:cNvPicPr>
            <a:picLocks noChangeAspect="1"/>
          </p:cNvPicPr>
          <p:nvPr/>
        </p:nvPicPr>
        <p:blipFill>
          <a:blip r:embed="rId4"/>
          <a:srcRect t="27226" b="27226"/>
          <a:stretch>
            <a:fillRect/>
          </a:stretch>
        </p:blipFill>
        <p:spPr>
          <a:xfrm>
            <a:off x="4463186" y="2304288"/>
            <a:ext cx="3265322" cy="1536192"/>
          </a:xfrm>
          <a:prstGeom prst="roundRect">
            <a:avLst>
              <a:gd name="adj" fmla="val 7142"/>
            </a:avLst>
          </a:prstGeom>
        </p:spPr>
      </p:pic>
      <p:sp>
        <p:nvSpPr>
          <p:cNvPr id="18" name="Rounded Rectangle 17"/>
          <p:cNvSpPr/>
          <p:nvPr/>
        </p:nvSpPr>
        <p:spPr>
          <a:xfrm>
            <a:off x="4609490" y="3383280"/>
            <a:ext cx="9039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9490" y="3383280"/>
            <a:ext cx="9039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카페 정원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9490" y="404164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정원 · 호수 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9490" y="4315968"/>
            <a:ext cx="297271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호수길133 카페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9490" y="4791456"/>
            <a:ext cx="2972714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예능 촬영지로 화제가 된 정원 카페.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분위기는 최고, 가격대는 조금 있는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편이에요.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9490" y="582472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11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횡성군 우천면 전재호수길 149</a:t>
            </a:r>
          </a:p>
        </p:txBody>
      </p:sp>
      <p:sp>
        <p:nvSpPr>
          <p:cNvPr id="24" name="TextBox 23">
            <a:hlinkClick r:id="rId5"/>
          </p:cNvPr>
          <p:cNvSpPr txBox="1"/>
          <p:nvPr/>
        </p:nvSpPr>
        <p:spPr>
          <a:xfrm>
            <a:off x="4609490" y="6080760"/>
            <a:ext cx="29727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지도 보기 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6836" y="2194560"/>
            <a:ext cx="3484778" cy="4343400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코티지생운 외관"/>
          <p:cNvPicPr>
            <a:picLocks noChangeAspect="1"/>
          </p:cNvPicPr>
          <p:nvPr/>
        </p:nvPicPr>
        <p:blipFill>
          <a:blip r:embed="rId6"/>
          <a:srcRect t="27941" b="45588"/>
          <a:stretch>
            <a:fillRect/>
          </a:stretch>
        </p:blipFill>
        <p:spPr>
          <a:xfrm>
            <a:off x="8176564" y="2304288"/>
            <a:ext cx="3265322" cy="1536192"/>
          </a:xfrm>
          <a:prstGeom prst="roundRect">
            <a:avLst>
              <a:gd name="adj" fmla="val 7142"/>
            </a:avLst>
          </a:prstGeom>
        </p:spPr>
      </p:pic>
      <p:sp>
        <p:nvSpPr>
          <p:cNvPr id="27" name="Rounded Rectangle 26"/>
          <p:cNvSpPr/>
          <p:nvPr/>
        </p:nvSpPr>
        <p:spPr>
          <a:xfrm>
            <a:off x="8322868" y="3383280"/>
            <a:ext cx="10436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2868" y="3383280"/>
            <a:ext cx="10436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코티지 외관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2868" y="404164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핸드드립 맛집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2868" y="4315968"/>
            <a:ext cx="297271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코티지생운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2868" y="4791456"/>
            <a:ext cx="297271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붉은 벽돌 현관이 예쁜 작은 집. 가성비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좋은 핸드드립 커피로 유명해요.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2868" y="582472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11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횡성군 횡성읍 덕고로535번길 26-10</a:t>
            </a:r>
          </a:p>
        </p:txBody>
      </p:sp>
      <p:sp>
        <p:nvSpPr>
          <p:cNvPr id="33" name="TextBox 32">
            <a:hlinkClick r:id="rId7"/>
          </p:cNvPr>
          <p:cNvSpPr txBox="1"/>
          <p:nvPr/>
        </p:nvSpPr>
        <p:spPr>
          <a:xfrm>
            <a:off x="8322868" y="6080760"/>
            <a:ext cx="29727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지도 보기 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호숫길펜션 낮 시간 야외 테라스"/>
          <p:cNvPicPr>
            <a:picLocks noChangeAspect="1"/>
          </p:cNvPicPr>
          <p:nvPr/>
        </p:nvPicPr>
        <p:blipFill>
          <a:blip r:embed="rId2"/>
          <a:srcRect l="27018" r="27018"/>
          <a:stretch>
            <a:fillRect/>
          </a:stretch>
        </p:blipFill>
        <p:spPr>
          <a:xfrm>
            <a:off x="640080" y="548640"/>
            <a:ext cx="3530498" cy="5760720"/>
          </a:xfrm>
          <a:prstGeom prst="roundRect">
            <a:avLst>
              <a:gd name="adj" fmla="val 4662"/>
            </a:avLst>
          </a:prstGeom>
        </p:spPr>
      </p:pic>
      <p:sp>
        <p:nvSpPr>
          <p:cNvPr id="3" name="Rounded Rectangle 2"/>
          <p:cNvSpPr/>
          <p:nvPr/>
        </p:nvSpPr>
        <p:spPr>
          <a:xfrm>
            <a:off x="786384" y="5852159"/>
            <a:ext cx="10436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852159"/>
            <a:ext cx="10436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야외 테라스</a:t>
            </a:r>
          </a:p>
        </p:txBody>
      </p:sp>
      <p:pic>
        <p:nvPicPr>
          <p:cNvPr id="5" name="Picture 4" descr="호숫길펜션 야간 전경"/>
          <p:cNvPicPr>
            <a:picLocks noChangeAspect="1"/>
          </p:cNvPicPr>
          <p:nvPr/>
        </p:nvPicPr>
        <p:blipFill>
          <a:blip r:embed="rId3"/>
          <a:srcRect l="18216" r="18216"/>
          <a:stretch>
            <a:fillRect/>
          </a:stretch>
        </p:blipFill>
        <p:spPr>
          <a:xfrm>
            <a:off x="4280306" y="548640"/>
            <a:ext cx="2394813" cy="2825496"/>
          </a:xfrm>
          <a:prstGeom prst="roundRect">
            <a:avLst>
              <a:gd name="adj" fmla="val 6872"/>
            </a:avLst>
          </a:prstGeom>
        </p:spPr>
      </p:pic>
      <p:sp>
        <p:nvSpPr>
          <p:cNvPr id="6" name="Rounded Rectangle 5"/>
          <p:cNvSpPr/>
          <p:nvPr/>
        </p:nvSpPr>
        <p:spPr>
          <a:xfrm>
            <a:off x="4408322" y="2935224"/>
            <a:ext cx="9039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8322" y="2935224"/>
            <a:ext cx="9039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밤의 펜션</a:t>
            </a:r>
          </a:p>
        </p:txBody>
      </p:sp>
      <p:pic>
        <p:nvPicPr>
          <p:cNvPr id="8" name="Picture 7" descr="호숫길펜션 객실 내부"/>
          <p:cNvPicPr>
            <a:picLocks noChangeAspect="1"/>
          </p:cNvPicPr>
          <p:nvPr/>
        </p:nvPicPr>
        <p:blipFill>
          <a:blip r:embed="rId4"/>
          <a:srcRect l="18201" r="18201"/>
          <a:stretch>
            <a:fillRect/>
          </a:stretch>
        </p:blipFill>
        <p:spPr>
          <a:xfrm>
            <a:off x="4280306" y="3483864"/>
            <a:ext cx="2394813" cy="2825496"/>
          </a:xfrm>
          <a:prstGeom prst="roundRect">
            <a:avLst>
              <a:gd name="adj" fmla="val 6872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4408322" y="5870448"/>
            <a:ext cx="9039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8322" y="5870448"/>
            <a:ext cx="9039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객실 내부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73152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17:30 – 18:00</a:t>
            </a:r>
            <a:r>
              <a:rPr sz="13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CHECK-IN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188720"/>
            <a:ext cx="4462272" cy="509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4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호숫길펜션 구방리518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926844"/>
            <a:ext cx="4462272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오늘 밤의 베이스캠프. 짐 풀고 숨 고르고, 저녁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준비를 시작해요.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2848864"/>
            <a:ext cx="2755900" cy="384048"/>
          </a:xfrm>
          <a:prstGeom prst="roundRect">
            <a:avLst>
              <a:gd name="adj" fmla="val 41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848864"/>
            <a:ext cx="24358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1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HEAL POINT  </a:t>
            </a:r>
            <a:r>
              <a:rPr sz="13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짐 풀고, 숨 고르기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4105656"/>
            <a:ext cx="4462272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16052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객실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15137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한과동 · 더덕동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4608576"/>
            <a:ext cx="4462272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4663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주소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65429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횡성군 갑천면 태기로구방5길 23-12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5111496"/>
            <a:ext cx="4462272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516636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체크인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515721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오후 3시부터 (정비 17:30 – 18:00)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5614416"/>
            <a:ext cx="4462272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566928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7" name="TextBox 26">
            <a:hlinkClick r:id="rId5"/>
          </p:cNvPr>
          <p:cNvSpPr txBox="1"/>
          <p:nvPr/>
        </p:nvSpPr>
        <p:spPr>
          <a:xfrm>
            <a:off x="8001000" y="566013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네이버지도에서 보기 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300" b="1" spc="4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18:00 – 24:00</a:t>
            </a:r>
            <a:r>
              <a:rPr sz="13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   NIGHT AT THE PENSION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10000"/>
              </a:lnSpc>
            </a:pPr>
            <a:r>
              <a:rPr sz="4000" b="1" spc="-8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바베큐, 레크, 그리고 불멍.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916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7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오늘의 하이라이트는 숙소에서. 먹고, 웃고, 마지막엔 불 앞에 둘러앉아 밤새 수다 떨어요.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3484778" cy="4069080"/>
          </a:xfrm>
          <a:prstGeom prst="roundRect">
            <a:avLst>
              <a:gd name="adj" fmla="val 4723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53458" y="2331720"/>
            <a:ext cx="3484778" cy="4069080"/>
          </a:xfrm>
          <a:prstGeom prst="roundRect">
            <a:avLst>
              <a:gd name="adj" fmla="val 4723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66836" y="2331720"/>
            <a:ext cx="3484778" cy="4069080"/>
          </a:xfrm>
          <a:prstGeom prst="roundRect">
            <a:avLst>
              <a:gd name="adj" fmla="val 4723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펜션 야외 테라스의 텐트 공간"/>
          <p:cNvPicPr>
            <a:picLocks noChangeAspect="1"/>
          </p:cNvPicPr>
          <p:nvPr/>
        </p:nvPicPr>
        <p:blipFill>
          <a:blip r:embed="rId2"/>
          <a:srcRect t="11515" b="11515"/>
          <a:stretch>
            <a:fillRect/>
          </a:stretch>
        </p:blipFill>
        <p:spPr>
          <a:xfrm>
            <a:off x="640080" y="2331720"/>
            <a:ext cx="3484778" cy="2011680"/>
          </a:xfrm>
          <a:prstGeom prst="roundRect">
            <a:avLst>
              <a:gd name="adj" fmla="val 8181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786384" y="3886200"/>
            <a:ext cx="10436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886200"/>
            <a:ext cx="10436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야외 테라스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54456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200" b="1" spc="40">
                <a:solidFill>
                  <a:srgbClr val="2997FF"/>
                </a:solidFill>
                <a:latin typeface="Noto Sans KR"/>
                <a:ea typeface="Noto Sans KR"/>
                <a:cs typeface="Noto Sans KR"/>
              </a:rPr>
              <a:t>18:00 – 20:00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818888"/>
            <a:ext cx="297271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400" b="1" spc="-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바베큐 디너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349240"/>
            <a:ext cx="29727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오후에 직접 고른 재료로 숙소 바베큐.</a:t>
            </a:r>
            <a:br>
              <a:rPr sz="1400"/>
            </a:br>
            <a:r>
              <a:rPr sz="14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굽는 사람 따로, 먹는 사람 따로 없이</a:t>
            </a:r>
            <a:br>
              <a:rPr sz="1400"/>
            </a:br>
            <a:r>
              <a:rPr sz="14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같이.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9490" y="2624327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200" b="1" spc="40">
                <a:solidFill>
                  <a:srgbClr val="2997FF"/>
                </a:solidFill>
                <a:latin typeface="Noto Sans KR"/>
                <a:ea typeface="Noto Sans KR"/>
                <a:cs typeface="Noto Sans KR"/>
              </a:rPr>
              <a:t>20:00 – 22:30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9490" y="2898647"/>
            <a:ext cx="297271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400" b="1" spc="-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레크리에이션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9490" y="3429000"/>
            <a:ext cx="297271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이기는 사람보다 웃는 사람이 많은 밤.</a:t>
            </a:r>
            <a:br>
              <a:rPr sz="1400"/>
            </a:br>
            <a:r>
              <a:rPr sz="14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프로그램은 이렇게 진행돼요.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9490" y="4160520"/>
            <a:ext cx="2972714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9490" y="4288536"/>
            <a:ext cx="202173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선물뽑기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3796" y="4306824"/>
            <a:ext cx="978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0" latinLnBrk="0">
              <a:lnSpc>
                <a:spcPct val="100000"/>
              </a:lnSpc>
            </a:pPr>
            <a:r>
              <a:rPr sz="13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15분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09490" y="4690872"/>
            <a:ext cx="2972714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9490" y="4818888"/>
            <a:ext cx="202173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퀴즈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3796" y="4837176"/>
            <a:ext cx="978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0" latinLnBrk="0">
              <a:lnSpc>
                <a:spcPct val="100000"/>
              </a:lnSpc>
            </a:pPr>
            <a:r>
              <a:rPr sz="13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30분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9490" y="5221224"/>
            <a:ext cx="2972714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9490" y="5349240"/>
            <a:ext cx="202173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보드게임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3796" y="5367528"/>
            <a:ext cx="978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eaLnBrk="0" latinLnBrk="0">
              <a:lnSpc>
                <a:spcPct val="100000"/>
              </a:lnSpc>
            </a:pPr>
            <a:r>
              <a:rPr sz="13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60분</a:t>
            </a:r>
          </a:p>
        </p:txBody>
      </p:sp>
      <p:pic>
        <p:nvPicPr>
          <p:cNvPr id="26" name="Picture 25" descr="펜션 마당의 불멍 화로"/>
          <p:cNvPicPr>
            <a:picLocks noChangeAspect="1"/>
          </p:cNvPicPr>
          <p:nvPr/>
        </p:nvPicPr>
        <p:blipFill>
          <a:blip r:embed="rId3"/>
          <a:srcRect t="37173" b="30414"/>
          <a:stretch>
            <a:fillRect/>
          </a:stretch>
        </p:blipFill>
        <p:spPr>
          <a:xfrm>
            <a:off x="8066836" y="2331720"/>
            <a:ext cx="3484778" cy="2011680"/>
          </a:xfrm>
          <a:prstGeom prst="roundRect">
            <a:avLst>
              <a:gd name="adj" fmla="val 8181"/>
            </a:avLst>
          </a:prstGeom>
        </p:spPr>
      </p:pic>
      <p:sp>
        <p:nvSpPr>
          <p:cNvPr id="27" name="Rounded Rectangle 26"/>
          <p:cNvSpPr/>
          <p:nvPr/>
        </p:nvSpPr>
        <p:spPr>
          <a:xfrm>
            <a:off x="8213140" y="3886200"/>
            <a:ext cx="59029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3140" y="3886200"/>
            <a:ext cx="5902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불멍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2868" y="4544568"/>
            <a:ext cx="29727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200" b="1" spc="40">
                <a:solidFill>
                  <a:srgbClr val="2997FF"/>
                </a:solidFill>
                <a:latin typeface="Noto Sans KR"/>
                <a:ea typeface="Noto Sans KR"/>
                <a:cs typeface="Noto Sans KR"/>
              </a:rPr>
              <a:t>22:30 ~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2868" y="4818888"/>
            <a:ext cx="297271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400" b="1" spc="-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취침 · 자유시간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2868" y="5349240"/>
            <a:ext cx="29727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타닥타닥 불멍 앞에 둘러앉아 못다 한</a:t>
            </a:r>
            <a:br>
              <a:rPr sz="1400"/>
            </a:br>
            <a:r>
              <a:rPr sz="14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이야기를. 졸리면 자러 가요.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8580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500" b="1" spc="10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11.13 FRI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1560"/>
            <a:ext cx="12191695" cy="2834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95000"/>
              </a:lnSpc>
            </a:pPr>
            <a:r>
              <a:rPr sz="19000" b="1" spc="-9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더 가까워지는 시간 — 걷고, 먹고, 한 잔 들고 돌아오기.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3559" y="4800600"/>
            <a:ext cx="11277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3559" y="4800600"/>
            <a:ext cx="112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횡성호수길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9335" y="4800600"/>
            <a:ext cx="9753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9335" y="4800600"/>
            <a:ext cx="975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라오니아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2711" y="4800600"/>
            <a:ext cx="670560" cy="384048"/>
          </a:xfrm>
          <a:prstGeom prst="roundRect">
            <a:avLst>
              <a:gd name="adj" fmla="val 50000"/>
            </a:avLst>
          </a:prstGeom>
          <a:solidFill>
            <a:srgbClr val="262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12711" y="4800600"/>
            <a:ext cx="67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카페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3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07:00 아침 운동(선택)  ·  08:30 아침식사 &amp; 정비  ·  09:30 퇴실 · 이동 (체크아웃 11시)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횡성호숫가의 나비 모양 벤치"/>
          <p:cNvPicPr>
            <a:picLocks noChangeAspect="1"/>
          </p:cNvPicPr>
          <p:nvPr/>
        </p:nvPicPr>
        <p:blipFill>
          <a:blip r:embed="rId2"/>
          <a:srcRect l="29571" r="29571"/>
          <a:stretch>
            <a:fillRect/>
          </a:stretch>
        </p:blipFill>
        <p:spPr>
          <a:xfrm>
            <a:off x="640080" y="548640"/>
            <a:ext cx="3530498" cy="5760720"/>
          </a:xfrm>
          <a:prstGeom prst="roundRect">
            <a:avLst>
              <a:gd name="adj" fmla="val 4662"/>
            </a:avLst>
          </a:prstGeom>
        </p:spPr>
      </p:pic>
      <p:sp>
        <p:nvSpPr>
          <p:cNvPr id="3" name="Rounded Rectangle 2"/>
          <p:cNvSpPr/>
          <p:nvPr/>
        </p:nvSpPr>
        <p:spPr>
          <a:xfrm>
            <a:off x="786384" y="5852159"/>
            <a:ext cx="135737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852159"/>
            <a:ext cx="13573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호숫가 나비 벤치</a:t>
            </a:r>
          </a:p>
        </p:txBody>
      </p:sp>
      <p:pic>
        <p:nvPicPr>
          <p:cNvPr id="5" name="Picture 4" descr="호숫가를 따라 이어진 산책 데크"/>
          <p:cNvPicPr>
            <a:picLocks noChangeAspect="1"/>
          </p:cNvPicPr>
          <p:nvPr/>
        </p:nvPicPr>
        <p:blipFill>
          <a:blip r:embed="rId3"/>
          <a:srcRect l="7621" r="7621"/>
          <a:stretch>
            <a:fillRect/>
          </a:stretch>
        </p:blipFill>
        <p:spPr>
          <a:xfrm>
            <a:off x="4280306" y="548640"/>
            <a:ext cx="2394813" cy="2825496"/>
          </a:xfrm>
          <a:prstGeom prst="roundRect">
            <a:avLst>
              <a:gd name="adj" fmla="val 6872"/>
            </a:avLst>
          </a:prstGeom>
        </p:spPr>
      </p:pic>
      <p:sp>
        <p:nvSpPr>
          <p:cNvPr id="6" name="Rounded Rectangle 5"/>
          <p:cNvSpPr/>
          <p:nvPr/>
        </p:nvSpPr>
        <p:spPr>
          <a:xfrm>
            <a:off x="4408322" y="2935224"/>
            <a:ext cx="121767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8322" y="2935224"/>
            <a:ext cx="12176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호수 산책 데크</a:t>
            </a:r>
          </a:p>
        </p:txBody>
      </p:sp>
      <p:pic>
        <p:nvPicPr>
          <p:cNvPr id="8" name="Picture 7" descr="호수길의 조형물과 호수"/>
          <p:cNvPicPr>
            <a:picLocks noChangeAspect="1"/>
          </p:cNvPicPr>
          <p:nvPr/>
        </p:nvPicPr>
        <p:blipFill>
          <a:blip r:embed="rId4"/>
          <a:srcRect l="21748" r="21748"/>
          <a:stretch>
            <a:fillRect/>
          </a:stretch>
        </p:blipFill>
        <p:spPr>
          <a:xfrm>
            <a:off x="4280306" y="3483864"/>
            <a:ext cx="2394813" cy="2825496"/>
          </a:xfrm>
          <a:prstGeom prst="roundRect">
            <a:avLst>
              <a:gd name="adj" fmla="val 6872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4408322" y="5870448"/>
            <a:ext cx="11833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8322" y="5870448"/>
            <a:ext cx="11833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호수길 조형물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73152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10:00 – 12:00</a:t>
            </a:r>
            <a:r>
              <a:rPr sz="13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TEAM BUILDING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188720"/>
            <a:ext cx="4462272" cy="569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8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횡성호수길 5구간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986788"/>
            <a:ext cx="4462272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‘가족길’이라는 이름처럼 누구와도 부담 없이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걷는 호숫가 산책길. 오늘의 미션은 하나, 걷는</a:t>
            </a:r>
            <a:br>
              <a:rPr sz="1700"/>
            </a:b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내내 수다 멈추지 않기.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3232657"/>
            <a:ext cx="3790949" cy="384048"/>
          </a:xfrm>
          <a:prstGeom prst="roundRect">
            <a:avLst>
              <a:gd name="adj" fmla="val 41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232657"/>
            <a:ext cx="347090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1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HEAL POINT  </a:t>
            </a:r>
            <a:r>
              <a:rPr sz="13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호수 따라 걸으며 수다 떠는 2시간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4608576"/>
            <a:ext cx="4462272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663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코스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65429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횡성호수길 5구간(가족길) 산책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5111496"/>
            <a:ext cx="4462272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516635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입장료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15721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1인 2,000원 → 횡성관광상품권 환급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5614416"/>
            <a:ext cx="4462272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566927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4" name="TextBox 23">
            <a:hlinkClick r:id="rId5"/>
          </p:cNvPr>
          <p:cNvSpPr txBox="1"/>
          <p:nvPr/>
        </p:nvSpPr>
        <p:spPr>
          <a:xfrm>
            <a:off x="8001000" y="5660136"/>
            <a:ext cx="3547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네이버지도에서 보기 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4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12:30 – 14:00</a:t>
            </a:r>
            <a:r>
              <a:rPr sz="13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   LUNCH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297680" cy="509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400" b="1" spc="-8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한우 무한리필 라오니아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6844"/>
            <a:ext cx="429768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횡성 한우를 마음껏. 오늘만큼은 ‘적당히’가</a:t>
            </a:r>
            <a:br>
              <a:rPr sz="1700"/>
            </a:br>
            <a:r>
              <a:rPr sz="17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없어요. 고기와 반찬은 셀프로 가져다 먹는</a:t>
            </a:r>
            <a:br>
              <a:rPr sz="1700"/>
            </a:br>
            <a:r>
              <a:rPr sz="1700" b="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방식이에요.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172713"/>
            <a:ext cx="4297680" cy="640080"/>
          </a:xfrm>
          <a:prstGeom prst="roundRect">
            <a:avLst>
              <a:gd name="adj" fmla="val 30000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172713"/>
            <a:ext cx="3977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100" b="1">
                <a:solidFill>
                  <a:srgbClr val="2997FF"/>
                </a:solidFill>
                <a:latin typeface="Noto Sans KR"/>
                <a:ea typeface="Noto Sans KR"/>
                <a:cs typeface="Noto Sans KR"/>
              </a:rPr>
              <a:t>HEAL POINT  </a:t>
            </a:r>
            <a:r>
              <a:rPr sz="1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고기 굽는 동안에도 수다는 멈추지 않아요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08576"/>
            <a:ext cx="4297680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메뉴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5429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한우 무한리필 (셀프 리필)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111496"/>
            <a:ext cx="4297680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5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주소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횡성군 둔내면 고원로398번길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614416"/>
            <a:ext cx="4297680" cy="9144"/>
          </a:xfrm>
          <a:prstGeom prst="rect">
            <a:avLst/>
          </a:prstGeom>
          <a:solidFill>
            <a:srgbClr val="4A4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669279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CCCCCC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1554480" y="566013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5000"/>
              </a:lnSpc>
            </a:pPr>
            <a:r>
              <a:rPr sz="1400" b="0">
                <a:solidFill>
                  <a:srgbClr val="2997FF"/>
                </a:solidFill>
                <a:latin typeface="Noto Sans KR"/>
                <a:ea typeface="Noto Sans KR"/>
                <a:cs typeface="Noto Sans KR"/>
              </a:rPr>
              <a:t>네이버지도에서 보기 ›</a:t>
            </a:r>
          </a:p>
        </p:txBody>
      </p:sp>
      <p:pic>
        <p:nvPicPr>
          <p:cNvPr id="16" name="Picture 15" descr="불판 위에서 구워지는 한우"/>
          <p:cNvPicPr>
            <a:picLocks noChangeAspect="1"/>
          </p:cNvPicPr>
          <p:nvPr/>
        </p:nvPicPr>
        <p:blipFill>
          <a:blip r:embed="rId3"/>
          <a:srcRect l="10027" r="10027"/>
          <a:stretch>
            <a:fillRect/>
          </a:stretch>
        </p:blipFill>
        <p:spPr>
          <a:xfrm>
            <a:off x="5257800" y="548640"/>
            <a:ext cx="3680277" cy="5760720"/>
          </a:xfrm>
          <a:prstGeom prst="roundRect">
            <a:avLst>
              <a:gd name="adj" fmla="val 4472"/>
            </a:avLst>
          </a:prstGeom>
        </p:spPr>
      </p:pic>
      <p:sp>
        <p:nvSpPr>
          <p:cNvPr id="17" name="Rounded Rectangle 16"/>
          <p:cNvSpPr/>
          <p:nvPr/>
        </p:nvSpPr>
        <p:spPr>
          <a:xfrm>
            <a:off x="5404104" y="5852159"/>
            <a:ext cx="107797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5852159"/>
            <a:ext cx="10779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불판 위 한우</a:t>
            </a:r>
          </a:p>
        </p:txBody>
      </p:sp>
      <p:pic>
        <p:nvPicPr>
          <p:cNvPr id="19" name="Picture 18" descr="라오니아 한우 무한리필 가게 전경"/>
          <p:cNvPicPr>
            <a:picLocks noChangeAspect="1"/>
          </p:cNvPicPr>
          <p:nvPr/>
        </p:nvPicPr>
        <p:blipFill>
          <a:blip r:embed="rId4"/>
          <a:srcRect l="17037" r="23528"/>
          <a:stretch>
            <a:fillRect/>
          </a:stretch>
        </p:blipFill>
        <p:spPr>
          <a:xfrm>
            <a:off x="9047805" y="548640"/>
            <a:ext cx="2501066" cy="2825496"/>
          </a:xfrm>
          <a:prstGeom prst="roundRect">
            <a:avLst>
              <a:gd name="adj" fmla="val 6580"/>
            </a:avLst>
          </a:prstGeom>
        </p:spPr>
      </p:pic>
      <p:sp>
        <p:nvSpPr>
          <p:cNvPr id="20" name="Rounded Rectangle 19"/>
          <p:cNvSpPr/>
          <p:nvPr/>
        </p:nvSpPr>
        <p:spPr>
          <a:xfrm>
            <a:off x="9175821" y="2935224"/>
            <a:ext cx="149707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5821" y="2935224"/>
            <a:ext cx="14970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라오니아 가게 전경</a:t>
            </a:r>
          </a:p>
        </p:txBody>
      </p:sp>
      <p:pic>
        <p:nvPicPr>
          <p:cNvPr id="22" name="Picture 21" descr="구운 한우 한 점"/>
          <p:cNvPicPr>
            <a:picLocks noChangeAspect="1"/>
          </p:cNvPicPr>
          <p:nvPr/>
        </p:nvPicPr>
        <p:blipFill>
          <a:blip r:embed="rId5"/>
          <a:srcRect t="4811" b="4811"/>
          <a:stretch>
            <a:fillRect/>
          </a:stretch>
        </p:blipFill>
        <p:spPr>
          <a:xfrm>
            <a:off x="9047805" y="3483864"/>
            <a:ext cx="2501066" cy="2825496"/>
          </a:xfrm>
          <a:prstGeom prst="roundRect">
            <a:avLst>
              <a:gd name="adj" fmla="val 6580"/>
            </a:avLst>
          </a:prstGeom>
        </p:spPr>
      </p:pic>
      <p:sp>
        <p:nvSpPr>
          <p:cNvPr id="23" name="Rounded Rectangle 22"/>
          <p:cNvSpPr/>
          <p:nvPr/>
        </p:nvSpPr>
        <p:spPr>
          <a:xfrm>
            <a:off x="9175821" y="5870448"/>
            <a:ext cx="111226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5821" y="5870448"/>
            <a:ext cx="111226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갓 구운 한 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300" b="1" spc="4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14:00 ~ 14:30</a:t>
            </a:r>
            <a:r>
              <a:rPr sz="1300" b="1" spc="4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CAFÉ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50327" y="512064"/>
            <a:ext cx="608330" cy="27432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50327" y="512064"/>
            <a:ext cx="60833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택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10000"/>
              </a:lnSpc>
            </a:pPr>
            <a:r>
              <a:rPr sz="40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카페 음료 한 잔 픽업!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69164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3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점심 먹고 음료는 한 잔씩 테이크아웃!</a:t>
            </a:r>
          </a:p>
          <a:p>
            <a:pPr algn="ctr" eaLnBrk="0" latinLnBrk="0">
              <a:lnSpc>
                <a:spcPct val="135000"/>
              </a:lnSpc>
            </a:pPr>
            <a:r>
              <a:rPr sz="17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둔내면의 큰 창이 있는 두 카페 중 한 곳에서 받아 가요.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5318607" cy="384048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산일리오 카페 전경과 폭포 절벽"/>
          <p:cNvPicPr>
            <a:picLocks noChangeAspect="1"/>
          </p:cNvPicPr>
          <p:nvPr/>
        </p:nvPicPr>
        <p:blipFill>
          <a:blip r:embed="rId2"/>
          <a:srcRect t="57593" b="27103"/>
          <a:stretch>
            <a:fillRect/>
          </a:stretch>
        </p:blipFill>
        <p:spPr>
          <a:xfrm>
            <a:off x="749808" y="2670048"/>
            <a:ext cx="5099151" cy="1399031"/>
          </a:xfrm>
          <a:prstGeom prst="roundRect">
            <a:avLst>
              <a:gd name="adj" fmla="val 7843"/>
            </a:avLst>
          </a:prstGeom>
        </p:spPr>
      </p:pic>
      <p:sp>
        <p:nvSpPr>
          <p:cNvPr id="9" name="Rounded Rectangle 8"/>
          <p:cNvSpPr/>
          <p:nvPr/>
        </p:nvSpPr>
        <p:spPr>
          <a:xfrm>
            <a:off x="896112" y="3611879"/>
            <a:ext cx="153136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611879"/>
            <a:ext cx="153136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절벽 위의 카페 전경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270247"/>
            <a:ext cx="480654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폭포 · 정원 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544567"/>
            <a:ext cx="48065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산일리오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020055"/>
            <a:ext cx="48065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절벽과 인공 폭포, 산을 바라보는 통창 카페. 야외 테라스에서도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쉬어갈 수 있어요.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687568"/>
            <a:ext cx="480654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11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횡성군 둔내면 경강로 5339</a:t>
            </a:r>
          </a:p>
        </p:txBody>
      </p:sp>
      <p:sp>
        <p:nvSpPr>
          <p:cNvPr id="15" name="TextBox 14">
            <a:hlinkClick r:id="rId3"/>
          </p:cNvPr>
          <p:cNvSpPr txBox="1"/>
          <p:nvPr/>
        </p:nvSpPr>
        <p:spPr>
          <a:xfrm>
            <a:off x="896112" y="5943600"/>
            <a:ext cx="480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지도 보기 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560320"/>
            <a:ext cx="5318607" cy="384048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모스트석문 외관"/>
          <p:cNvPicPr>
            <a:picLocks noChangeAspect="1"/>
          </p:cNvPicPr>
          <p:nvPr/>
        </p:nvPicPr>
        <p:blipFill>
          <a:blip r:embed="rId4"/>
          <a:srcRect t="22563" b="22563"/>
          <a:stretch>
            <a:fillRect/>
          </a:stretch>
        </p:blipFill>
        <p:spPr>
          <a:xfrm>
            <a:off x="6342735" y="2670048"/>
            <a:ext cx="5099151" cy="1399031"/>
          </a:xfrm>
          <a:prstGeom prst="roundRect">
            <a:avLst>
              <a:gd name="adj" fmla="val 7843"/>
            </a:avLst>
          </a:prstGeom>
        </p:spPr>
      </p:pic>
      <p:sp>
        <p:nvSpPr>
          <p:cNvPr id="18" name="Rounded Rectangle 17"/>
          <p:cNvSpPr/>
          <p:nvPr/>
        </p:nvSpPr>
        <p:spPr>
          <a:xfrm>
            <a:off x="6489039" y="3611879"/>
            <a:ext cx="1323086" cy="310896"/>
          </a:xfrm>
          <a:prstGeom prst="roundRect">
            <a:avLst>
              <a:gd name="adj" fmla="val 50000"/>
            </a:avLst>
          </a:prstGeom>
          <a:solidFill>
            <a:srgbClr val="E3E3E8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9039" y="3611879"/>
            <a:ext cx="13230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모스트석문 외관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9039" y="4270247"/>
            <a:ext cx="480654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100" b="1" spc="4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갤러리형 카페 · 브런치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9039" y="4544567"/>
            <a:ext cx="48065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5000"/>
              </a:lnSpc>
            </a:pPr>
            <a:r>
              <a:rPr sz="22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모스트석문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5020055"/>
            <a:ext cx="48065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0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콘크리트 건축과 잔디 정원이 어우러진 넓은 카페. 둘러앉아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이야기 나누기 좋아요.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9039" y="5687568"/>
            <a:ext cx="480654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11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횡성군 둔내면 용현로 199</a:t>
            </a:r>
          </a:p>
        </p:txBody>
      </p:sp>
      <p:sp>
        <p:nvSpPr>
          <p:cNvPr id="24" name="TextBox 23">
            <a:hlinkClick r:id="rId5"/>
          </p:cNvPr>
          <p:cNvSpPr txBox="1"/>
          <p:nvPr/>
        </p:nvSpPr>
        <p:spPr>
          <a:xfrm>
            <a:off x="6489039" y="5943600"/>
            <a:ext cx="480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400" b="0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지도 보기 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510528"/>
            <a:ext cx="121916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14:30  귀가 — 횡성 출발 → 본부 · 시흥 도착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6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600" b="1" spc="-7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전체 일정 한눈에 보기</a:t>
            </a:r>
            <a:r>
              <a:rPr sz="2000" b="0" spc="-7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 DAY 1  11.12 (목)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5295747" cy="4572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08:00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2157984"/>
            <a:ext cx="566928" cy="566928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15798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4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2167128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횡성으로 이동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본부 · 시흥 출발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871216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71216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11:00</a:t>
            </a:r>
          </a:p>
        </p:txBody>
      </p:sp>
      <p:pic>
        <p:nvPicPr>
          <p:cNvPr id="11" name="Picture 10" descr="풍수원성당"/>
          <p:cNvPicPr>
            <a:picLocks noChangeAspect="1"/>
          </p:cNvPicPr>
          <p:nvPr/>
        </p:nvPicPr>
        <p:blipFill>
          <a:blip r:embed="rId2"/>
          <a:srcRect l="4102" r="4102"/>
          <a:stretch>
            <a:fillRect/>
          </a:stretch>
        </p:blipFill>
        <p:spPr>
          <a:xfrm>
            <a:off x="1828800" y="3017520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12" name="TextBox 11"/>
          <p:cNvSpPr txBox="1"/>
          <p:nvPr/>
        </p:nvSpPr>
        <p:spPr>
          <a:xfrm>
            <a:off x="2606039" y="3026664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풍수원성당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팀빌딩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730752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30752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12:30</a:t>
            </a:r>
          </a:p>
        </p:txBody>
      </p:sp>
      <p:pic>
        <p:nvPicPr>
          <p:cNvPr id="15" name="Picture 14" descr="점심 · 지은네식당"/>
          <p:cNvPicPr>
            <a:picLocks noChangeAspect="1"/>
          </p:cNvPicPr>
          <p:nvPr/>
        </p:nvPicPr>
        <p:blipFill>
          <a:blip r:embed="rId3"/>
          <a:srcRect l="278" r="278"/>
          <a:stretch>
            <a:fillRect/>
          </a:stretch>
        </p:blipFill>
        <p:spPr>
          <a:xfrm>
            <a:off x="1828800" y="3877056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16" name="TextBox 15"/>
          <p:cNvSpPr txBox="1"/>
          <p:nvPr/>
        </p:nvSpPr>
        <p:spPr>
          <a:xfrm>
            <a:off x="2606039" y="388620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점심 · 지은네식당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돌솥두부정식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90288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0288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13:40</a:t>
            </a:r>
          </a:p>
        </p:txBody>
      </p:sp>
      <p:pic>
        <p:nvPicPr>
          <p:cNvPr id="19" name="Picture 18" descr="횡성루지체험장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828800" y="4736592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20" name="TextBox 19"/>
          <p:cNvSpPr txBox="1"/>
          <p:nvPr/>
        </p:nvSpPr>
        <p:spPr>
          <a:xfrm>
            <a:off x="2606039" y="4745736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횡성루지체험장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팀빌딩 · 루지 2회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449824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49824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14:50</a:t>
            </a:r>
          </a:p>
        </p:txBody>
      </p:sp>
      <p:pic>
        <p:nvPicPr>
          <p:cNvPr id="23" name="Picture 22" descr="장보기"/>
          <p:cNvPicPr>
            <a:picLocks noChangeAspect="1"/>
          </p:cNvPicPr>
          <p:nvPr/>
        </p:nvPicPr>
        <p:blipFill>
          <a:blip r:embed="rId5"/>
          <a:srcRect l="12500" r="12500"/>
          <a:stretch>
            <a:fillRect/>
          </a:stretch>
        </p:blipFill>
        <p:spPr>
          <a:xfrm>
            <a:off x="1828800" y="5596128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24" name="TextBox 23"/>
          <p:cNvSpPr txBox="1"/>
          <p:nvPr/>
        </p:nvSpPr>
        <p:spPr>
          <a:xfrm>
            <a:off x="2606039" y="5605272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장보기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하나로마트 동횡성농협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5867" y="1920240"/>
            <a:ext cx="5295747" cy="4572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0187" y="2011680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15:40</a:t>
            </a:r>
          </a:p>
        </p:txBody>
      </p:sp>
      <p:pic>
        <p:nvPicPr>
          <p:cNvPr id="27" name="Picture 26" descr="카페 (택 1)"/>
          <p:cNvPicPr>
            <a:picLocks noChangeAspect="1"/>
          </p:cNvPicPr>
          <p:nvPr/>
        </p:nvPicPr>
        <p:blipFill>
          <a:blip r:embed="rId6"/>
          <a:srcRect t="12500" b="12500"/>
          <a:stretch>
            <a:fillRect/>
          </a:stretch>
        </p:blipFill>
        <p:spPr>
          <a:xfrm>
            <a:off x="7444587" y="2157984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28" name="TextBox 27"/>
          <p:cNvSpPr txBox="1"/>
          <p:nvPr/>
        </p:nvSpPr>
        <p:spPr>
          <a:xfrm>
            <a:off x="8221827" y="2167128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카페 (택 1)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타이페이909 · 호수길133 · 코티지생운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0187" y="2871216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0187" y="2871216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17:30</a:t>
            </a:r>
          </a:p>
        </p:txBody>
      </p:sp>
      <p:pic>
        <p:nvPicPr>
          <p:cNvPr id="31" name="Picture 30" descr="숙소 체크인 · 정비"/>
          <p:cNvPicPr>
            <a:picLocks noChangeAspect="1"/>
          </p:cNvPicPr>
          <p:nvPr/>
        </p:nvPicPr>
        <p:blipFill>
          <a:blip r:embed="rId7"/>
          <a:srcRect l="12500" r="12500"/>
          <a:stretch>
            <a:fillRect/>
          </a:stretch>
        </p:blipFill>
        <p:spPr>
          <a:xfrm>
            <a:off x="7444587" y="3017520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32" name="TextBox 31"/>
          <p:cNvSpPr txBox="1"/>
          <p:nvPr/>
        </p:nvSpPr>
        <p:spPr>
          <a:xfrm>
            <a:off x="8221827" y="3026664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숙소 체크인 · 정비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호숫길펜션 구방리518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0187" y="3730752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0187" y="3730752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18:00</a:t>
            </a:r>
          </a:p>
        </p:txBody>
      </p:sp>
      <p:pic>
        <p:nvPicPr>
          <p:cNvPr id="35" name="Picture 34" descr="저녁 · 바베큐"/>
          <p:cNvPicPr>
            <a:picLocks noChangeAspect="1"/>
          </p:cNvPicPr>
          <p:nvPr/>
        </p:nvPicPr>
        <p:blipFill>
          <a:blip r:embed="rId8"/>
          <a:srcRect l="12500" r="12500"/>
          <a:stretch>
            <a:fillRect/>
          </a:stretch>
        </p:blipFill>
        <p:spPr>
          <a:xfrm>
            <a:off x="7444587" y="3877056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36" name="TextBox 35"/>
          <p:cNvSpPr txBox="1"/>
          <p:nvPr/>
        </p:nvSpPr>
        <p:spPr>
          <a:xfrm>
            <a:off x="8221827" y="388620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저녁 · 바베큐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숙소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0187" y="4590288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0187" y="4590288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20:00</a:t>
            </a:r>
          </a:p>
        </p:txBody>
      </p:sp>
      <p:sp>
        <p:nvSpPr>
          <p:cNvPr id="39" name="Oval 38"/>
          <p:cNvSpPr/>
          <p:nvPr/>
        </p:nvSpPr>
        <p:spPr>
          <a:xfrm>
            <a:off x="7444587" y="4736592"/>
            <a:ext cx="566928" cy="566928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44587" y="473659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4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1827" y="4745736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레크리에이션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선물뽑기 · 퀴즈 · 보드게임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0187" y="5449824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5449824"/>
            <a:ext cx="86868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22:30</a:t>
            </a:r>
          </a:p>
        </p:txBody>
      </p:sp>
      <p:pic>
        <p:nvPicPr>
          <p:cNvPr id="44" name="Picture 43" descr="취침 · 자유시간"/>
          <p:cNvPicPr>
            <a:picLocks noChangeAspect="1"/>
          </p:cNvPicPr>
          <p:nvPr/>
        </p:nvPicPr>
        <p:blipFill>
          <a:blip r:embed="rId9"/>
          <a:srcRect t="21926" b="21926"/>
          <a:stretch>
            <a:fillRect/>
          </a:stretch>
        </p:blipFill>
        <p:spPr>
          <a:xfrm>
            <a:off x="7444587" y="5596128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45" name="TextBox 44"/>
          <p:cNvSpPr txBox="1"/>
          <p:nvPr/>
        </p:nvSpPr>
        <p:spPr>
          <a:xfrm>
            <a:off x="8221827" y="5605272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취침 · 자유시간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불멍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25000"/>
              </a:lnSpc>
            </a:pPr>
            <a:r>
              <a:rPr sz="1300" b="1" spc="6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3600" b="1" spc="-7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전체 일정 한눈에 보기</a:t>
            </a:r>
            <a:r>
              <a:rPr sz="2000" b="0" spc="-7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    DAY 2  11.13 (금)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5295747" cy="4572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868680" cy="1074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07:00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2265426"/>
            <a:ext cx="566928" cy="566928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26542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4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227457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아침 운동 (선택)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숙소 주변 러닝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86100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86100"/>
            <a:ext cx="868680" cy="1074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08:30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3339846"/>
            <a:ext cx="566928" cy="566928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33984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4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334899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아침식사 &amp; 정비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숙소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160520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868680" cy="1074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09:30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0" y="4414266"/>
            <a:ext cx="566928" cy="566928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441426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4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39" y="442341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퇴실 · 이동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체크아웃 11시까지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234940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34940"/>
            <a:ext cx="868680" cy="1074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10:00</a:t>
            </a:r>
          </a:p>
        </p:txBody>
      </p:sp>
      <p:pic>
        <p:nvPicPr>
          <p:cNvPr id="21" name="Picture 20" descr="횡성호수길 5구간"/>
          <p:cNvPicPr>
            <a:picLocks noChangeAspect="1"/>
          </p:cNvPicPr>
          <p:nvPr/>
        </p:nvPicPr>
        <p:blipFill>
          <a:blip r:embed="rId2"/>
          <a:srcRect l="16667" r="16667"/>
          <a:stretch>
            <a:fillRect/>
          </a:stretch>
        </p:blipFill>
        <p:spPr>
          <a:xfrm>
            <a:off x="1828800" y="5488686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22" name="TextBox 21"/>
          <p:cNvSpPr txBox="1"/>
          <p:nvPr/>
        </p:nvSpPr>
        <p:spPr>
          <a:xfrm>
            <a:off x="2606039" y="549783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횡성호수길 5구간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팀빌딩 · 가족길 산책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5867" y="1920240"/>
            <a:ext cx="5295747" cy="4572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0187" y="2011680"/>
            <a:ext cx="868680" cy="1074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12:30</a:t>
            </a:r>
          </a:p>
        </p:txBody>
      </p:sp>
      <p:pic>
        <p:nvPicPr>
          <p:cNvPr id="25" name="Picture 24" descr="점심 · 라오니아"/>
          <p:cNvPicPr>
            <a:picLocks noChangeAspect="1"/>
          </p:cNvPicPr>
          <p:nvPr/>
        </p:nvPicPr>
        <p:blipFill>
          <a:blip r:embed="rId3"/>
          <a:srcRect t="10044" b="10044"/>
          <a:stretch>
            <a:fillRect/>
          </a:stretch>
        </p:blipFill>
        <p:spPr>
          <a:xfrm>
            <a:off x="7444587" y="2265426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26" name="TextBox 25"/>
          <p:cNvSpPr txBox="1"/>
          <p:nvPr/>
        </p:nvSpPr>
        <p:spPr>
          <a:xfrm>
            <a:off x="8221827" y="227457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점심 · 라오니아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한우 무한리필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0187" y="3086100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0187" y="3086100"/>
            <a:ext cx="868680" cy="1074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14:00</a:t>
            </a:r>
          </a:p>
        </p:txBody>
      </p:sp>
      <p:pic>
        <p:nvPicPr>
          <p:cNvPr id="29" name="Picture 28" descr="카페 (택 1)"/>
          <p:cNvPicPr>
            <a:picLocks noChangeAspect="1"/>
          </p:cNvPicPr>
          <p:nvPr/>
        </p:nvPicPr>
        <p:blipFill>
          <a:blip r:embed="rId4"/>
          <a:srcRect t="22109" b="22109"/>
          <a:stretch>
            <a:fillRect/>
          </a:stretch>
        </p:blipFill>
        <p:spPr>
          <a:xfrm>
            <a:off x="7444587" y="3339846"/>
            <a:ext cx="566928" cy="566928"/>
          </a:xfrm>
          <a:prstGeom prst="roundRect">
            <a:avLst>
              <a:gd name="adj" fmla="val 50000"/>
            </a:avLst>
          </a:prstGeom>
        </p:spPr>
      </p:pic>
      <p:sp>
        <p:nvSpPr>
          <p:cNvPr id="30" name="TextBox 29"/>
          <p:cNvSpPr txBox="1"/>
          <p:nvPr/>
        </p:nvSpPr>
        <p:spPr>
          <a:xfrm>
            <a:off x="8221827" y="334899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카페 (택 1)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산일리오 · 모스트석문 · 음료 픽업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0187" y="4160520"/>
            <a:ext cx="474710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0187" y="4160520"/>
            <a:ext cx="868680" cy="1074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00000"/>
              </a:lnSpc>
            </a:pPr>
            <a:r>
              <a:rPr sz="15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14:30</a:t>
            </a:r>
          </a:p>
        </p:txBody>
      </p:sp>
      <p:sp>
        <p:nvSpPr>
          <p:cNvPr id="33" name="Oval 32"/>
          <p:cNvSpPr/>
          <p:nvPr/>
        </p:nvSpPr>
        <p:spPr>
          <a:xfrm>
            <a:off x="7444587" y="4414266"/>
            <a:ext cx="566928" cy="566928"/>
          </a:xfrm>
          <a:prstGeom prst="ellips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44587" y="441426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400" b="1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1827" y="4423410"/>
            <a:ext cx="30554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0" latinLnBrk="0">
              <a:lnSpc>
                <a:spcPct val="120000"/>
              </a:lnSpc>
            </a:pPr>
            <a:r>
              <a:rPr sz="1600" b="1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귀가</a:t>
            </a:r>
          </a:p>
          <a:p>
            <a:pPr algn="l" eaLnBrk="0" latinLnBrk="0">
              <a:lnSpc>
                <a:spcPct val="12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본부 · 시흥 도착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300" b="1" spc="8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BEFORE WE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96112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10000"/>
              </a:lnSpc>
            </a:pPr>
            <a:r>
              <a:rPr sz="4200" b="1" spc="-9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출발 전 안내사항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64208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35000"/>
              </a:lnSpc>
            </a:pPr>
            <a:r>
              <a:rPr sz="16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더 즐겁고 편안한 워크숍을 위해 꼭 확인해 주세요.</a:t>
            </a:r>
          </a:p>
          <a:p>
            <a:pPr algn="ctr" eaLnBrk="0" latinLnBrk="0">
              <a:lnSpc>
                <a:spcPct val="135000"/>
              </a:lnSpc>
            </a:pPr>
            <a:r>
              <a:rPr sz="16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세부 내용은 확정되는 대로 채워질 예정이에요.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97480"/>
            <a:ext cx="3484778" cy="3383280"/>
          </a:xfrm>
          <a:prstGeom prst="roundRect">
            <a:avLst>
              <a:gd name="adj" fmla="val 486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준비물 아이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0"/>
            <a:ext cx="73152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3977639"/>
            <a:ext cx="27532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4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준비물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275325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35000"/>
              </a:lnSpc>
            </a:pPr>
            <a:r>
              <a:rPr sz="2100" b="1" spc="-3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즐겁게 즐길 마음!</a:t>
            </a:r>
          </a:p>
          <a:p>
            <a:pPr algn="l" eaLnBrk="0" latinLnBrk="0">
              <a:lnSpc>
                <a:spcPct val="135000"/>
              </a:lnSpc>
            </a:pPr>
            <a:r>
              <a:rPr sz="2100" b="1" spc="-3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함박웃음!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3458" y="2697480"/>
            <a:ext cx="3484778" cy="3383280"/>
          </a:xfrm>
          <a:prstGeom prst="roundRect">
            <a:avLst>
              <a:gd name="adj" fmla="val 486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의상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218" y="3017520"/>
            <a:ext cx="731520" cy="731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19218" y="3977639"/>
            <a:ext cx="27532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4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의상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9218" y="4572000"/>
            <a:ext cx="275325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35000"/>
              </a:lnSpc>
            </a:pPr>
            <a:r>
              <a:rPr sz="2100" b="1" spc="-3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팀 단체 티셔츠!</a:t>
            </a:r>
          </a:p>
          <a:p>
            <a:pPr algn="l" eaLnBrk="0" latinLnBrk="0">
              <a:lnSpc>
                <a:spcPct val="135000"/>
              </a:lnSpc>
            </a:pPr>
            <a:r>
              <a:rPr sz="2100" b="1" spc="-3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(노페)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2697480"/>
            <a:ext cx="3484778" cy="3383280"/>
          </a:xfrm>
          <a:prstGeom prst="roundRect">
            <a:avLst>
              <a:gd name="adj" fmla="val 4864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랜덤 선물 준비 아이콘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596" y="3017520"/>
            <a:ext cx="731520" cy="731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32596" y="3977639"/>
            <a:ext cx="27532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4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랜덤 선물 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596" y="4572000"/>
            <a:ext cx="275325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35000"/>
              </a:lnSpc>
            </a:pPr>
            <a:r>
              <a:rPr sz="2100" b="1" spc="-3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개인당 1만원 상당의</a:t>
            </a:r>
          </a:p>
          <a:p>
            <a:pPr algn="l" eaLnBrk="0" latinLnBrk="0">
              <a:lnSpc>
                <a:spcPct val="135000"/>
              </a:lnSpc>
            </a:pPr>
            <a:r>
              <a:rPr sz="2100" b="1" spc="-3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선물 랜덤 준비!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486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25000"/>
              </a:lnSpc>
            </a:pPr>
            <a:r>
              <a:rPr sz="1300" b="1" spc="8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BEFORE WE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96112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10000"/>
              </a:lnSpc>
            </a:pPr>
            <a:r>
              <a:rPr sz="4200" b="1" spc="-9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차량 · 집결지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18607" cy="379476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33007" y="1828800"/>
            <a:ext cx="5318607" cy="379476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차량 아이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19" y="2084832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1639" y="213969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4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차량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926080"/>
            <a:ext cx="467852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차량 1 · 6697</a:t>
            </a:r>
            <a:r>
              <a:rPr sz="13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    본부 출발</a:t>
            </a:r>
          </a:p>
          <a:p>
            <a:pPr algn="l" eaLnBrk="0" latinLnBrk="0">
              <a:lnSpc>
                <a:spcPct val="145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운전 황병욱 (귀가도 동일)</a:t>
            </a:r>
          </a:p>
          <a:p>
            <a:pPr algn="l" eaLnBrk="0" latinLnBrk="0">
              <a:lnSpc>
                <a:spcPct val="145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백진 · 박소진 · 윤새롬 · 강안나 · 이상혁 · 김민지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4389120"/>
            <a:ext cx="46785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차량 2 · 6698</a:t>
            </a:r>
            <a:r>
              <a:rPr sz="1300" b="1">
                <a:solidFill>
                  <a:srgbClr val="0066CC"/>
                </a:solidFill>
                <a:latin typeface="Noto Sans KR"/>
                <a:ea typeface="Noto Sans KR"/>
                <a:cs typeface="Noto Sans KR"/>
              </a:rPr>
              <a:t>    시흥 출발</a:t>
            </a:r>
          </a:p>
          <a:p>
            <a:pPr algn="l" eaLnBrk="0" latinLnBrk="0">
              <a:lnSpc>
                <a:spcPct val="145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운전 유호성 (귀가는 최종훈)</a:t>
            </a:r>
          </a:p>
          <a:p>
            <a:pPr algn="l" eaLnBrk="0" latinLnBrk="0">
              <a:lnSpc>
                <a:spcPct val="145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최종훈 · 박선영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19" y="4224528"/>
            <a:ext cx="467852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집결지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7" y="2084832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84567" y="213969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10000"/>
              </a:lnSpc>
            </a:pPr>
            <a:r>
              <a:rPr sz="2400" b="1" spc="-5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집결지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26080"/>
            <a:ext cx="467852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출발 · 11/12 (목) 08:00</a:t>
            </a:r>
          </a:p>
          <a:p>
            <a:pPr algn="l" eaLnBrk="0" latinLnBrk="0">
              <a:lnSpc>
                <a:spcPct val="145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본부 팀은 본부에서 차량 1, 시흥 팀은 시흥에서 차량 2로</a:t>
            </a:r>
            <a:br>
              <a:rPr sz="1400"/>
            </a:b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출발해요.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4389120"/>
            <a:ext cx="467852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0" latinLnBrk="0">
              <a:lnSpc>
                <a:spcPct val="145000"/>
              </a:lnSpc>
            </a:pPr>
            <a:r>
              <a:rPr sz="1700" b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귀가 · 11/13 (금) 14:30</a:t>
            </a:r>
          </a:p>
          <a:p>
            <a:pPr algn="l" eaLnBrk="0" latinLnBrk="0">
              <a:lnSpc>
                <a:spcPct val="145000"/>
              </a:lnSpc>
            </a:pPr>
            <a:r>
              <a:rPr sz="1400" b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횡성에서 출발해서 본부와 시흥에 각각 도착해요.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53047" y="4224528"/>
            <a:ext cx="4678527" cy="914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0" y="57607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10000"/>
              </a:lnSpc>
            </a:pPr>
            <a:r>
              <a:rPr sz="2800" b="0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좋은 사람들과, 좋은 곳에서, </a:t>
            </a:r>
            <a:r>
              <a:rPr sz="2800" b="1" spc="-80">
                <a:solidFill>
                  <a:srgbClr val="1D1D1F"/>
                </a:solidFill>
                <a:latin typeface="Noto Sans KR"/>
                <a:ea typeface="Noto Sans KR"/>
                <a:cs typeface="Noto Sans KR"/>
              </a:rPr>
              <a:t>더 좋은 우리.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263640"/>
            <a:ext cx="121916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2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Giup-Heartnership Team Workshop · Talk. Play. Heal.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51052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eaLnBrk="0" latinLnBrk="0">
              <a:lnSpc>
                <a:spcPct val="100000"/>
              </a:lnSpc>
            </a:pPr>
            <a:r>
              <a:rPr sz="1000" b="0">
                <a:solidFill>
                  <a:srgbClr val="7A7A7A"/>
                </a:solidFill>
                <a:latin typeface="Noto Sans KR"/>
                <a:ea typeface="Noto Sans KR"/>
                <a:cs typeface="Noto Sans KR"/>
              </a:rPr>
              <a:t>사진 출처: 네이버 플레이스 등록 사진 · 풍수원성당 외관과 호수 산책길은 AI로 만든 이미지 · 팀 내부 안내용  |  일정은 현장 상황에 따라 조정될 수 있어요.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Giup-Heartnership Team Workshop 2026</dc:title>
  <dc:subject/>
  <dc:creator>기업파트너십팀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