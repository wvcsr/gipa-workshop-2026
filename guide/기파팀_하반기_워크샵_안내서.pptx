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map.naver.com/p/entry/place/13163313" TargetMode="External"/><Relationship Id="rId3" Type="http://schemas.openxmlformats.org/officeDocument/2006/relationships/image" Target="../media/image2.jpg"/><Relationship Id="rId4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jpg"/><Relationship Id="rId4" Type="http://schemas.openxmlformats.org/officeDocument/2006/relationships/image" Target="../media/image6.jpg"/><Relationship Id="rId5" Type="http://schemas.openxmlformats.org/officeDocument/2006/relationships/hyperlink" Target="https://map.naver.com/p/entry/place/1103726684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luge.hsg.go.kr/kor/main/index.html" TargetMode="External"/><Relationship Id="rId3" Type="http://schemas.openxmlformats.org/officeDocument/2006/relationships/image" Target="../media/image7.jpg"/><Relationship Id="rId4" Type="http://schemas.openxmlformats.org/officeDocument/2006/relationships/image" Target="../media/image8.jpg"/><Relationship Id="rId5" Type="http://schemas.openxmlformats.org/officeDocument/2006/relationships/image" Target="../media/image9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map.naver.com/p/entry/place/15517699" TargetMode="External"/><Relationship Id="rId3" Type="http://schemas.openxmlformats.org/officeDocument/2006/relationships/image" Target="../media/image10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hyperlink" Target="https://map.naver.com/p/entry/place/1002109100" TargetMode="External"/><Relationship Id="rId4" Type="http://schemas.openxmlformats.org/officeDocument/2006/relationships/image" Target="../media/image12.jpg"/><Relationship Id="rId5" Type="http://schemas.openxmlformats.org/officeDocument/2006/relationships/hyperlink" Target="https://map.naver.com/p/entry/place/1807711050" TargetMode="External"/><Relationship Id="rId6" Type="http://schemas.openxmlformats.org/officeDocument/2006/relationships/image" Target="../media/image13.jpg"/><Relationship Id="rId7" Type="http://schemas.openxmlformats.org/officeDocument/2006/relationships/hyperlink" Target="https://map.naver.com/p/entry/place/1751325235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jpg"/><Relationship Id="rId4" Type="http://schemas.openxmlformats.org/officeDocument/2006/relationships/image" Target="../media/image16.jpg"/><Relationship Id="rId5" Type="http://schemas.openxmlformats.org/officeDocument/2006/relationships/hyperlink" Target="https://map.naver.com/p/entry/place/1916559389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image" Target="../media/image18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image" Target="../media/image20.jpg"/><Relationship Id="rId4" Type="http://schemas.openxmlformats.org/officeDocument/2006/relationships/image" Target="../media/image21.jpg"/><Relationship Id="rId5" Type="http://schemas.openxmlformats.org/officeDocument/2006/relationships/hyperlink" Target="https://map.naver.com/p/entry/place/1074121921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map.naver.com/p/entry/place/37370416" TargetMode="External"/><Relationship Id="rId3" Type="http://schemas.openxmlformats.org/officeDocument/2006/relationships/image" Target="../media/image22.jpg"/><Relationship Id="rId4" Type="http://schemas.openxmlformats.org/officeDocument/2006/relationships/image" Target="../media/image23.jpg"/><Relationship Id="rId5" Type="http://schemas.openxmlformats.org/officeDocument/2006/relationships/image" Target="../media/image24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hscf.or.kr/bbs/content.php?co_id=sub_06_08" TargetMode="External"/><Relationship Id="rId3" Type="http://schemas.openxmlformats.org/officeDocument/2006/relationships/image" Target="../media/image25.jpg"/><Relationship Id="rId4" Type="http://schemas.openxmlformats.org/officeDocument/2006/relationships/image" Target="../media/image26.jpg"/><Relationship Id="rId5" Type="http://schemas.openxmlformats.org/officeDocument/2006/relationships/image" Target="../media/image27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hyperlink" Target="https://map.naver.com/p/entry/place/1890737303" TargetMode="External"/><Relationship Id="rId4" Type="http://schemas.openxmlformats.org/officeDocument/2006/relationships/image" Target="../media/image29.jpg"/><Relationship Id="rId5" Type="http://schemas.openxmlformats.org/officeDocument/2006/relationships/hyperlink" Target="https://map.naver.com/p/entry/place/2045083035" TargetMode="Externa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4.jpg"/><Relationship Id="rId4" Type="http://schemas.openxmlformats.org/officeDocument/2006/relationships/image" Target="../media/image7.jpg"/><Relationship Id="rId5" Type="http://schemas.openxmlformats.org/officeDocument/2006/relationships/image" Target="../media/image10.jpg"/><Relationship Id="rId6" Type="http://schemas.openxmlformats.org/officeDocument/2006/relationships/image" Target="../media/image11.jpg"/><Relationship Id="rId7" Type="http://schemas.openxmlformats.org/officeDocument/2006/relationships/image" Target="../media/image14.jpg"/><Relationship Id="rId8" Type="http://schemas.openxmlformats.org/officeDocument/2006/relationships/image" Target="../media/image17.jpg"/><Relationship Id="rId9" Type="http://schemas.openxmlformats.org/officeDocument/2006/relationships/image" Target="../media/image18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image" Target="../media/image22.jpg"/><Relationship Id="rId4" Type="http://schemas.openxmlformats.org/officeDocument/2006/relationships/image" Target="../media/image25.jpg"/><Relationship Id="rId5" Type="http://schemas.openxmlformats.org/officeDocument/2006/relationships/image" Target="../media/image28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Relationship Id="rId6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02920"/>
            <a:ext cx="121916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eaLnBrk="0" latinLnBrk="0">
              <a:lnSpc>
                <a:spcPct val="125000"/>
              </a:lnSpc>
            </a:pPr>
            <a:r>
              <a:rPr sz="1400" b="1" spc="60">
                <a:solidFill>
                  <a:srgbClr val="7A7A7A"/>
                </a:solidFill>
                <a:latin typeface="Noto Sans KR"/>
                <a:ea typeface="Noto Sans KR"/>
                <a:cs typeface="Noto Sans KR"/>
              </a:rPr>
              <a:t>기업파트너십팀  ·  2026 하반기 워크샵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868680"/>
            <a:ext cx="12191695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eaLnBrk="0" latinLnBrk="0">
              <a:lnSpc>
                <a:spcPct val="100000"/>
              </a:lnSpc>
            </a:pPr>
            <a:r>
              <a:rPr sz="7200" b="1" spc="-250">
                <a:solidFill>
                  <a:srgbClr val="1D1D1F"/>
                </a:solidFill>
                <a:latin typeface="Noto Sans KR"/>
                <a:ea typeface="Noto Sans KR"/>
                <a:cs typeface="Noto Sans KR"/>
              </a:rPr>
              <a:t>Work. Connect. </a:t>
            </a:r>
            <a:r>
              <a:rPr sz="7200" b="1" spc="-250">
                <a:solidFill>
                  <a:srgbClr val="7A7A7A"/>
                </a:solidFill>
                <a:latin typeface="Noto Sans KR"/>
                <a:ea typeface="Noto Sans KR"/>
                <a:cs typeface="Noto Sans KR"/>
              </a:rPr>
              <a:t>Heal.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2194560"/>
            <a:ext cx="1219169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eaLnBrk="0" latinLnBrk="0">
              <a:lnSpc>
                <a:spcPct val="125000"/>
              </a:lnSpc>
            </a:pPr>
            <a:r>
              <a:rPr sz="2800" b="0" spc="-3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일은 잠깐 내려놓고, 우리끼리 실컷 떠들자.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2852928"/>
            <a:ext cx="121916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eaLnBrk="0" latinLnBrk="0">
              <a:lnSpc>
                <a:spcPct val="125000"/>
              </a:lnSpc>
            </a:pPr>
            <a:r>
              <a:rPr sz="1600" b="0">
                <a:solidFill>
                  <a:srgbClr val="7A7A7A"/>
                </a:solidFill>
                <a:latin typeface="Noto Sans KR"/>
                <a:ea typeface="Noto Sans KR"/>
                <a:cs typeface="Noto Sans KR"/>
              </a:rPr>
              <a:t>2026.11.12 (목) – 11.13 (금)   ·   강원 횡성   ·   10명</a:t>
            </a:r>
          </a:p>
        </p:txBody>
      </p:sp>
      <p:pic>
        <p:nvPicPr>
          <p:cNvPr id="6" name="Picture 5" descr="횡성호의 잔잔한 호수와 산 풍경"/>
          <p:cNvPicPr>
            <a:picLocks noChangeAspect="1"/>
          </p:cNvPicPr>
          <p:nvPr/>
        </p:nvPicPr>
        <p:blipFill>
          <a:blip r:embed="rId2"/>
          <a:srcRect t="36166" b="22166"/>
          <a:stretch>
            <a:fillRect/>
          </a:stretch>
        </p:blipFill>
        <p:spPr>
          <a:xfrm>
            <a:off x="0" y="3474720"/>
            <a:ext cx="12191695" cy="33832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40080" y="6263640"/>
            <a:ext cx="2220976" cy="310896"/>
          </a:xfrm>
          <a:prstGeom prst="roundRect">
            <a:avLst>
              <a:gd name="adj" fmla="val 50000"/>
            </a:avLst>
          </a:prstGeom>
          <a:solidFill>
            <a:srgbClr val="E3E3E8">
              <a:alpha val="8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263640"/>
            <a:ext cx="222097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eaLnBrk="0" latinLnBrk="0">
              <a:lnSpc>
                <a:spcPct val="100000"/>
              </a:lnSpc>
            </a:pPr>
            <a:r>
              <a:rPr sz="1200" b="1">
                <a:solidFill>
                  <a:srgbClr val="1D1D1F"/>
                </a:solidFill>
                <a:latin typeface="Noto Sans KR"/>
                <a:ea typeface="Noto Sans KR"/>
                <a:cs typeface="Noto Sans KR"/>
              </a:rPr>
              <a:t>횡성호 · Hoengseong Lake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731520"/>
            <a:ext cx="6217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 latinLnBrk="0">
              <a:lnSpc>
                <a:spcPct val="125000"/>
              </a:lnSpc>
            </a:pPr>
            <a:r>
              <a:rPr sz="1300" b="1" spc="60">
                <a:solidFill>
                  <a:srgbClr val="7A7A7A"/>
                </a:solidFill>
                <a:latin typeface="Noto Sans KR"/>
                <a:ea typeface="Noto Sans KR"/>
                <a:cs typeface="Noto Sans KR"/>
              </a:rPr>
              <a:t>WHY HOENGSEONG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658368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 latinLnBrk="0">
              <a:lnSpc>
                <a:spcPct val="112000"/>
              </a:lnSpc>
            </a:pPr>
            <a:r>
              <a:rPr sz="4600" b="1" spc="-100">
                <a:solidFill>
                  <a:srgbClr val="1D1D1F"/>
                </a:solidFill>
                <a:latin typeface="Noto Sans KR"/>
                <a:ea typeface="Noto Sans KR"/>
                <a:cs typeface="Noto Sans KR"/>
              </a:rPr>
              <a:t>일 얘기는 잠시 접고,</a:t>
            </a:r>
          </a:p>
          <a:p>
            <a:pPr algn="l" eaLnBrk="0" latinLnBrk="0">
              <a:lnSpc>
                <a:spcPct val="112000"/>
              </a:lnSpc>
            </a:pPr>
            <a:r>
              <a:rPr sz="4600" b="1" spc="-100">
                <a:solidFill>
                  <a:srgbClr val="1D1D1F"/>
                </a:solidFill>
                <a:latin typeface="Noto Sans KR"/>
                <a:ea typeface="Noto Sans KR"/>
                <a:cs typeface="Noto Sans KR"/>
              </a:rPr>
              <a:t>우리끼리 실컷 떠들자.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834640"/>
            <a:ext cx="576072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 latinLnBrk="0">
              <a:lnSpc>
                <a:spcPct val="150000"/>
              </a:lnSpc>
            </a:pPr>
            <a:r>
              <a:rPr sz="1600" b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늘 말이 넘치는 우리 팀, 이번엔 그 에너지를 일 말고 서로에게 쓰는</a:t>
            </a:r>
            <a:br>
              <a:rPr sz="1600"/>
            </a:br>
            <a:r>
              <a:rPr sz="1600" b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시간이에요. 먹으면서 떠들고, 달리면서 소리 지르고, 찐빵 빚으며</a:t>
            </a:r>
            <a:br>
              <a:rPr sz="1600"/>
            </a:br>
            <a:r>
              <a:rPr sz="1600" b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수다 떨고, 밤엔 불 앞에 둘러앉아 못다 한 이야기까지.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960120"/>
            <a:ext cx="21031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 latinLnBrk="0">
              <a:lnSpc>
                <a:spcPct val="100000"/>
              </a:lnSpc>
            </a:pPr>
            <a:r>
              <a:rPr sz="6400" b="1" spc="-200">
                <a:solidFill>
                  <a:srgbClr val="1D1D1F"/>
                </a:solidFill>
                <a:latin typeface="Noto Sans KR"/>
                <a:ea typeface="Noto Sans KR"/>
                <a:cs typeface="Noto Sans KR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1874519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 latinLnBrk="0">
              <a:lnSpc>
                <a:spcPct val="120000"/>
              </a:lnSpc>
            </a:pPr>
            <a:r>
              <a:rPr sz="1200" b="0">
                <a:solidFill>
                  <a:srgbClr val="7A7A7A"/>
                </a:solidFill>
                <a:latin typeface="Noto Sans KR"/>
                <a:ea typeface="Noto Sans KR"/>
                <a:cs typeface="Noto Sans KR"/>
              </a:rPr>
              <a:t>DAYS · 1박 2일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55480" y="960120"/>
            <a:ext cx="21031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 latinLnBrk="0">
              <a:lnSpc>
                <a:spcPct val="100000"/>
              </a:lnSpc>
            </a:pPr>
            <a:r>
              <a:rPr sz="6400" b="1" spc="-200">
                <a:solidFill>
                  <a:srgbClr val="1D1D1F"/>
                </a:solidFill>
                <a:latin typeface="Noto Sans KR"/>
                <a:ea typeface="Noto Sans KR"/>
                <a:cs typeface="Noto Sans KR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55480" y="1874519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 latinLnBrk="0">
              <a:lnSpc>
                <a:spcPct val="120000"/>
              </a:lnSpc>
            </a:pPr>
            <a:r>
              <a:rPr sz="1200" b="0">
                <a:solidFill>
                  <a:srgbClr val="7A7A7A"/>
                </a:solidFill>
                <a:latin typeface="Noto Sans KR"/>
                <a:ea typeface="Noto Sans KR"/>
                <a:cs typeface="Noto Sans KR"/>
              </a:rPr>
              <a:t>PEOPLE · 함께 떠나는 우리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2560320"/>
            <a:ext cx="21031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 latinLnBrk="0">
              <a:lnSpc>
                <a:spcPct val="100000"/>
              </a:lnSpc>
            </a:pPr>
            <a:r>
              <a:rPr sz="6400" b="1" spc="-200">
                <a:solidFill>
                  <a:srgbClr val="1D1D1F"/>
                </a:solidFill>
                <a:latin typeface="Noto Sans KR"/>
                <a:ea typeface="Noto Sans KR"/>
                <a:cs typeface="Noto Sans KR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347472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 latinLnBrk="0">
              <a:lnSpc>
                <a:spcPct val="120000"/>
              </a:lnSpc>
            </a:pPr>
            <a:r>
              <a:rPr sz="1200" b="0">
                <a:solidFill>
                  <a:srgbClr val="7A7A7A"/>
                </a:solidFill>
                <a:latin typeface="Noto Sans KR"/>
                <a:ea typeface="Noto Sans KR"/>
                <a:cs typeface="Noto Sans KR"/>
              </a:rPr>
              <a:t>LAKE WALK · 횡성호수길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55480" y="2560320"/>
            <a:ext cx="21031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 latinLnBrk="0">
              <a:lnSpc>
                <a:spcPct val="100000"/>
              </a:lnSpc>
            </a:pPr>
            <a:r>
              <a:rPr sz="6400" b="1" spc="-200">
                <a:solidFill>
                  <a:srgbClr val="1D1D1F"/>
                </a:solidFill>
                <a:latin typeface="Noto Sans KR"/>
                <a:ea typeface="Noto Sans KR"/>
                <a:cs typeface="Noto Sans KR"/>
              </a:rPr>
              <a:t>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55480" y="347472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 latinLnBrk="0">
              <a:lnSpc>
                <a:spcPct val="120000"/>
              </a:lnSpc>
            </a:pPr>
            <a:r>
              <a:rPr sz="1200" b="0">
                <a:solidFill>
                  <a:srgbClr val="7A7A7A"/>
                </a:solidFill>
                <a:latin typeface="Noto Sans KR"/>
                <a:ea typeface="Noto Sans KR"/>
                <a:cs typeface="Noto Sans KR"/>
              </a:rPr>
              <a:t>한우 무한리필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251960"/>
            <a:ext cx="3484778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498848"/>
            <a:ext cx="293613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 latinLnBrk="0">
              <a:lnSpc>
                <a:spcPct val="125000"/>
              </a:lnSpc>
            </a:pPr>
            <a:r>
              <a:rPr sz="1200" b="1" spc="140">
                <a:solidFill>
                  <a:srgbClr val="0066CC"/>
                </a:solidFill>
                <a:latin typeface="Noto Sans KR"/>
                <a:ea typeface="Noto Sans KR"/>
                <a:cs typeface="Noto Sans KR"/>
              </a:rPr>
              <a:t>WORK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828032"/>
            <a:ext cx="293613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 latinLnBrk="0">
              <a:lnSpc>
                <a:spcPct val="110000"/>
              </a:lnSpc>
            </a:pPr>
            <a:r>
              <a:rPr sz="2200" b="1" spc="-50">
                <a:solidFill>
                  <a:srgbClr val="1D1D1F"/>
                </a:solidFill>
                <a:latin typeface="Noto Sans KR"/>
                <a:ea typeface="Noto Sans KR"/>
                <a:cs typeface="Noto Sans KR"/>
              </a:rPr>
              <a:t>일은 잠시 OFF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376672"/>
            <a:ext cx="293613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 latinLnBrk="0">
              <a:lnSpc>
                <a:spcPct val="140000"/>
              </a:lnSpc>
            </a:pPr>
            <a:r>
              <a:rPr sz="1400" b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메일도, 보고도, 일 얘기도 이틀만</a:t>
            </a:r>
            <a:br>
              <a:rPr sz="1400"/>
            </a:br>
            <a:r>
              <a:rPr sz="1400" b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내려놓기. 오롯이 우리 얘기만 해요.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53458" y="4251960"/>
            <a:ext cx="3484778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27778" y="4498848"/>
            <a:ext cx="293613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 latinLnBrk="0">
              <a:lnSpc>
                <a:spcPct val="125000"/>
              </a:lnSpc>
            </a:pPr>
            <a:r>
              <a:rPr sz="1200" b="1" spc="140">
                <a:solidFill>
                  <a:srgbClr val="0066CC"/>
                </a:solidFill>
                <a:latin typeface="Noto Sans KR"/>
                <a:ea typeface="Noto Sans KR"/>
                <a:cs typeface="Noto Sans KR"/>
              </a:rPr>
              <a:t>CONNECT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27778" y="4828032"/>
            <a:ext cx="293613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 latinLnBrk="0">
              <a:lnSpc>
                <a:spcPct val="110000"/>
              </a:lnSpc>
            </a:pPr>
            <a:r>
              <a:rPr sz="2200" b="1" spc="-50">
                <a:solidFill>
                  <a:srgbClr val="1D1D1F"/>
                </a:solidFill>
                <a:latin typeface="Noto Sans KR"/>
                <a:ea typeface="Noto Sans KR"/>
                <a:cs typeface="Noto Sans KR"/>
              </a:rPr>
              <a:t>수다는 풀 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27778" y="5376672"/>
            <a:ext cx="293613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 latinLnBrk="0">
              <a:lnSpc>
                <a:spcPct val="140000"/>
              </a:lnSpc>
            </a:pPr>
            <a:r>
              <a:rPr sz="1400" b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직함 말고 이름으로. 차 안에서 ·</a:t>
            </a:r>
            <a:br>
              <a:rPr sz="1400"/>
            </a:br>
            <a:r>
              <a:rPr sz="1400" b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식탁에서 · 불 앞에서 끝없이 떠들어요.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66836" y="4251960"/>
            <a:ext cx="3484778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41156" y="4498848"/>
            <a:ext cx="293613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 latinLnBrk="0">
              <a:lnSpc>
                <a:spcPct val="125000"/>
              </a:lnSpc>
            </a:pPr>
            <a:r>
              <a:rPr sz="1200" b="1" spc="140">
                <a:solidFill>
                  <a:srgbClr val="0066CC"/>
                </a:solidFill>
                <a:latin typeface="Noto Sans KR"/>
                <a:ea typeface="Noto Sans KR"/>
                <a:cs typeface="Noto Sans KR"/>
              </a:rPr>
              <a:t>HEAL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41156" y="4828032"/>
            <a:ext cx="293613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 latinLnBrk="0">
              <a:lnSpc>
                <a:spcPct val="110000"/>
              </a:lnSpc>
            </a:pPr>
            <a:r>
              <a:rPr sz="2200" b="1" spc="-50">
                <a:solidFill>
                  <a:srgbClr val="1D1D1F"/>
                </a:solidFill>
                <a:latin typeface="Noto Sans KR"/>
                <a:ea typeface="Noto Sans KR"/>
                <a:cs typeface="Noto Sans KR"/>
              </a:rPr>
              <a:t>떠들고 놀수록 충전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41156" y="5376672"/>
            <a:ext cx="293613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 latinLnBrk="0">
              <a:lnSpc>
                <a:spcPct val="140000"/>
              </a:lnSpc>
            </a:pPr>
            <a:r>
              <a:rPr sz="1400" b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웃고, 먹고, 달리고, 놀다 보면 돌아오는</a:t>
            </a:r>
            <a:br>
              <a:rPr sz="1400"/>
            </a:br>
            <a:r>
              <a:rPr sz="1400" b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길엔 한결 가벼워져 있을 거예요.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685800"/>
            <a:ext cx="121916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eaLnBrk="0" latinLnBrk="0">
              <a:lnSpc>
                <a:spcPct val="125000"/>
              </a:lnSpc>
            </a:pPr>
            <a:r>
              <a:rPr sz="1500" b="1" spc="100">
                <a:solidFill>
                  <a:srgbClr val="CCCCCC"/>
                </a:solidFill>
                <a:latin typeface="Noto Sans KR"/>
                <a:ea typeface="Noto Sans KR"/>
                <a:cs typeface="Noto Sans KR"/>
              </a:rPr>
              <a:t>11.12 THU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1051560"/>
            <a:ext cx="12191695" cy="2834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eaLnBrk="0" latinLnBrk="0">
              <a:lnSpc>
                <a:spcPct val="95000"/>
              </a:lnSpc>
            </a:pPr>
            <a:r>
              <a:rPr sz="19000" b="1" spc="-90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DAY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4023360"/>
            <a:ext cx="121916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eaLnBrk="0" latinLnBrk="0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설레는 첫 하루 — 걷고, 먹고, 달리고, 불멍까지.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31441" y="4800600"/>
            <a:ext cx="1127760" cy="384048"/>
          </a:xfrm>
          <a:prstGeom prst="roundRect">
            <a:avLst>
              <a:gd name="adj" fmla="val 50000"/>
            </a:avLst>
          </a:prstGeom>
          <a:solidFill>
            <a:srgbClr val="262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31441" y="4800600"/>
            <a:ext cx="11277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eaLnBrk="0" latinLnBrk="0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풍수원성당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87217" y="4800600"/>
            <a:ext cx="1127760" cy="384048"/>
          </a:xfrm>
          <a:prstGeom prst="roundRect">
            <a:avLst>
              <a:gd name="adj" fmla="val 50000"/>
            </a:avLst>
          </a:prstGeom>
          <a:solidFill>
            <a:srgbClr val="262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87217" y="4800600"/>
            <a:ext cx="11277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eaLnBrk="0" latinLnBrk="0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지은네식당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2993" y="4800600"/>
            <a:ext cx="975360" cy="384048"/>
          </a:xfrm>
          <a:prstGeom prst="roundRect">
            <a:avLst>
              <a:gd name="adj" fmla="val 50000"/>
            </a:avLst>
          </a:prstGeom>
          <a:solidFill>
            <a:srgbClr val="262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42993" y="4800600"/>
            <a:ext cx="9753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eaLnBrk="0" latinLnBrk="0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횡성루지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46369" y="4800600"/>
            <a:ext cx="822960" cy="384048"/>
          </a:xfrm>
          <a:prstGeom prst="roundRect">
            <a:avLst>
              <a:gd name="adj" fmla="val 50000"/>
            </a:avLst>
          </a:prstGeom>
          <a:solidFill>
            <a:srgbClr val="262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46369" y="4800600"/>
            <a:ext cx="8229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eaLnBrk="0" latinLnBrk="0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장보기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97345" y="4800600"/>
            <a:ext cx="670560" cy="384048"/>
          </a:xfrm>
          <a:prstGeom prst="roundRect">
            <a:avLst>
              <a:gd name="adj" fmla="val 50000"/>
            </a:avLst>
          </a:prstGeom>
          <a:solidFill>
            <a:srgbClr val="262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97345" y="4800600"/>
            <a:ext cx="6705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eaLnBrk="0" latinLnBrk="0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카페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95921" y="4800600"/>
            <a:ext cx="1127760" cy="384048"/>
          </a:xfrm>
          <a:prstGeom prst="roundRect">
            <a:avLst>
              <a:gd name="adj" fmla="val 50000"/>
            </a:avLst>
          </a:prstGeom>
          <a:solidFill>
            <a:srgbClr val="262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95921" y="4800600"/>
            <a:ext cx="11277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eaLnBrk="0" latinLnBrk="0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호숫길펜션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51697" y="4800600"/>
            <a:ext cx="1780540" cy="384048"/>
          </a:xfrm>
          <a:prstGeom prst="roundRect">
            <a:avLst>
              <a:gd name="adj" fmla="val 50000"/>
            </a:avLst>
          </a:prstGeom>
          <a:solidFill>
            <a:srgbClr val="262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51697" y="4800600"/>
            <a:ext cx="17805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eaLnBrk="0" latinLnBrk="0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바베큐 · 레크 · 불멍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0" y="5669280"/>
            <a:ext cx="121916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eaLnBrk="0" latinLnBrk="0">
              <a:lnSpc>
                <a:spcPct val="125000"/>
              </a:lnSpc>
            </a:pPr>
            <a:r>
              <a:rPr sz="1300" b="0">
                <a:solidFill>
                  <a:srgbClr val="CCCCCC"/>
                </a:solidFill>
                <a:latin typeface="Noto Sans KR"/>
                <a:ea typeface="Noto Sans KR"/>
                <a:cs typeface="Noto Sans KR"/>
              </a:rPr>
              <a:t>08:00 – 11:00  본부 · 시흥 출발, 횡성으로 이동 (차량 2대)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731520"/>
            <a:ext cx="4297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 latinLnBrk="0">
              <a:lnSpc>
                <a:spcPct val="125000"/>
              </a:lnSpc>
            </a:pPr>
            <a:r>
              <a:rPr sz="1300" b="1" spc="40">
                <a:solidFill>
                  <a:srgbClr val="1D1D1F"/>
                </a:solidFill>
                <a:latin typeface="Noto Sans KR"/>
                <a:ea typeface="Noto Sans KR"/>
                <a:cs typeface="Noto Sans KR"/>
              </a:rPr>
              <a:t>11:00 – 12:00</a:t>
            </a:r>
            <a:r>
              <a:rPr sz="1300" b="1" spc="40">
                <a:solidFill>
                  <a:srgbClr val="7A7A7A"/>
                </a:solidFill>
                <a:latin typeface="Noto Sans KR"/>
                <a:ea typeface="Noto Sans KR"/>
                <a:cs typeface="Noto Sans KR"/>
              </a:rPr>
              <a:t>   TEAM BUILDING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4297680" cy="5694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 latinLnBrk="0">
              <a:lnSpc>
                <a:spcPct val="110000"/>
              </a:lnSpc>
            </a:pPr>
            <a:r>
              <a:rPr sz="3800" b="1" spc="-80">
                <a:solidFill>
                  <a:srgbClr val="1D1D1F"/>
                </a:solidFill>
                <a:latin typeface="Noto Sans KR"/>
                <a:ea typeface="Noto Sans KR"/>
                <a:cs typeface="Noto Sans KR"/>
              </a:rPr>
              <a:t>풍수원성당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86788"/>
            <a:ext cx="4297680" cy="971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 latinLnBrk="0">
              <a:lnSpc>
                <a:spcPct val="145000"/>
              </a:lnSpc>
            </a:pPr>
            <a:r>
              <a:rPr sz="1700" b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강원도 최초의 본당, 1907년 완공된 붉은 벽돌</a:t>
            </a:r>
            <a:br>
              <a:rPr sz="1700"/>
            </a:br>
            <a:r>
              <a:rPr sz="1700" b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성당. 첫 일정은 성당 앞을 함께 걸으며 수다로</a:t>
            </a:r>
            <a:br>
              <a:rPr sz="1700"/>
            </a:br>
            <a:r>
              <a:rPr sz="1700" b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몸풀기.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3232657"/>
            <a:ext cx="3524250" cy="384048"/>
          </a:xfrm>
          <a:prstGeom prst="roundRect">
            <a:avLst>
              <a:gd name="adj" fmla="val 41666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3232657"/>
            <a:ext cx="320421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eaLnBrk="0" latinLnBrk="0">
              <a:lnSpc>
                <a:spcPct val="115000"/>
              </a:lnSpc>
            </a:pPr>
            <a:r>
              <a:rPr sz="1100" b="1">
                <a:solidFill>
                  <a:srgbClr val="0066CC"/>
                </a:solidFill>
                <a:latin typeface="Noto Sans KR"/>
                <a:ea typeface="Noto Sans KR"/>
                <a:cs typeface="Noto Sans KR"/>
              </a:rPr>
              <a:t>HEAL POINT  </a:t>
            </a:r>
            <a:r>
              <a:rPr sz="1300" b="1">
                <a:solidFill>
                  <a:srgbClr val="1D1D1F"/>
                </a:solidFill>
                <a:latin typeface="Noto Sans KR"/>
                <a:ea typeface="Noto Sans KR"/>
                <a:cs typeface="Noto Sans KR"/>
              </a:rPr>
              <a:t>걸으며 수다 · 같이 사진 한 장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4608576"/>
            <a:ext cx="4297680" cy="9144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4663440"/>
            <a:ext cx="868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 latinLnBrk="0">
              <a:lnSpc>
                <a:spcPct val="100000"/>
              </a:lnSpc>
            </a:pPr>
            <a:r>
              <a:rPr sz="1100" b="1" spc="40">
                <a:solidFill>
                  <a:srgbClr val="7A7A7A"/>
                </a:solidFill>
                <a:latin typeface="Noto Sans KR"/>
                <a:ea typeface="Noto Sans KR"/>
                <a:cs typeface="Noto Sans KR"/>
              </a:rPr>
              <a:t>주소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4654296"/>
            <a:ext cx="3383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 latinLnBrk="0">
              <a:lnSpc>
                <a:spcPct val="115000"/>
              </a:lnSpc>
            </a:pPr>
            <a:r>
              <a:rPr sz="1400" b="0">
                <a:solidFill>
                  <a:srgbClr val="1D1D1F"/>
                </a:solidFill>
                <a:latin typeface="Noto Sans KR"/>
                <a:ea typeface="Noto Sans KR"/>
                <a:cs typeface="Noto Sans KR"/>
              </a:rPr>
              <a:t>횡성군 서원면 경강로유현1길 30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5111496"/>
            <a:ext cx="4297680" cy="9144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5166359"/>
            <a:ext cx="868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 latinLnBrk="0">
              <a:lnSpc>
                <a:spcPct val="100000"/>
              </a:lnSpc>
            </a:pPr>
            <a:r>
              <a:rPr sz="1100" b="1" spc="40">
                <a:solidFill>
                  <a:srgbClr val="7A7A7A"/>
                </a:solidFill>
                <a:latin typeface="Noto Sans KR"/>
                <a:ea typeface="Noto Sans KR"/>
                <a:cs typeface="Noto Sans KR"/>
              </a:rPr>
              <a:t>시간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5157216"/>
            <a:ext cx="3383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 latinLnBrk="0">
              <a:lnSpc>
                <a:spcPct val="115000"/>
              </a:lnSpc>
            </a:pPr>
            <a:r>
              <a:rPr sz="1400" b="0">
                <a:solidFill>
                  <a:srgbClr val="1D1D1F"/>
                </a:solidFill>
                <a:latin typeface="Noto Sans KR"/>
                <a:ea typeface="Noto Sans KR"/>
                <a:cs typeface="Noto Sans KR"/>
              </a:rPr>
              <a:t>11:00 – 12:00 (약 1시간)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5614416"/>
            <a:ext cx="4297680" cy="9144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5669279"/>
            <a:ext cx="868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 latinLnBrk="0">
              <a:lnSpc>
                <a:spcPct val="100000"/>
              </a:lnSpc>
            </a:pPr>
            <a:r>
              <a:rPr sz="1100" b="1" spc="40">
                <a:solidFill>
                  <a:srgbClr val="7A7A7A"/>
                </a:solidFill>
                <a:latin typeface="Noto Sans KR"/>
                <a:ea typeface="Noto Sans KR"/>
                <a:cs typeface="Noto Sans KR"/>
              </a:rPr>
              <a:t>지도</a:t>
            </a:r>
          </a:p>
        </p:txBody>
      </p:sp>
      <p:sp>
        <p:nvSpPr>
          <p:cNvPr id="15" name="TextBox 14">
            <a:hlinkClick r:id="rId2"/>
          </p:cNvPr>
          <p:cNvSpPr txBox="1"/>
          <p:nvPr/>
        </p:nvSpPr>
        <p:spPr>
          <a:xfrm>
            <a:off x="1554480" y="5660136"/>
            <a:ext cx="3383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 latinLnBrk="0">
              <a:lnSpc>
                <a:spcPct val="115000"/>
              </a:lnSpc>
            </a:pPr>
            <a:r>
              <a:rPr sz="1400" b="0">
                <a:solidFill>
                  <a:srgbClr val="0066CC"/>
                </a:solidFill>
                <a:latin typeface="Noto Sans KR"/>
                <a:ea typeface="Noto Sans KR"/>
                <a:cs typeface="Noto Sans KR"/>
              </a:rPr>
              <a:t>네이버지도에서 보기 ›</a:t>
            </a:r>
          </a:p>
        </p:txBody>
      </p:sp>
      <p:pic>
        <p:nvPicPr>
          <p:cNvPr id="16" name="Picture 15" descr="풍수원성당 외관"/>
          <p:cNvPicPr>
            <a:picLocks noChangeAspect="1"/>
          </p:cNvPicPr>
          <p:nvPr/>
        </p:nvPicPr>
        <p:blipFill>
          <a:blip r:embed="rId3"/>
          <a:srcRect l="18254" r="18254"/>
          <a:stretch>
            <a:fillRect/>
          </a:stretch>
        </p:blipFill>
        <p:spPr>
          <a:xfrm>
            <a:off x="5257800" y="548640"/>
            <a:ext cx="2743200" cy="5760720"/>
          </a:xfrm>
          <a:prstGeom prst="roundRect">
            <a:avLst>
              <a:gd name="adj" fmla="val 6000"/>
            </a:avLst>
          </a:prstGeom>
        </p:spPr>
      </p:pic>
      <p:sp>
        <p:nvSpPr>
          <p:cNvPr id="17" name="Rounded Rectangle 16"/>
          <p:cNvSpPr/>
          <p:nvPr/>
        </p:nvSpPr>
        <p:spPr>
          <a:xfrm>
            <a:off x="5404104" y="5852160"/>
            <a:ext cx="903986" cy="310896"/>
          </a:xfrm>
          <a:prstGeom prst="roundRect">
            <a:avLst>
              <a:gd name="adj" fmla="val 50000"/>
            </a:avLst>
          </a:prstGeom>
          <a:solidFill>
            <a:srgbClr val="E3E3E8">
              <a:alpha val="8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04104" y="5852160"/>
            <a:ext cx="90398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eaLnBrk="0" latinLnBrk="0">
              <a:lnSpc>
                <a:spcPct val="100000"/>
              </a:lnSpc>
            </a:pPr>
            <a:r>
              <a:rPr sz="1200" b="1">
                <a:solidFill>
                  <a:srgbClr val="1D1D1F"/>
                </a:solidFill>
                <a:latin typeface="Noto Sans KR"/>
                <a:ea typeface="Noto Sans KR"/>
                <a:cs typeface="Noto Sans KR"/>
              </a:rPr>
              <a:t>성당 외관</a:t>
            </a:r>
          </a:p>
        </p:txBody>
      </p:sp>
      <p:pic>
        <p:nvPicPr>
          <p:cNvPr id="19" name="Picture 18" descr="풍수원성당 내부 예배당"/>
          <p:cNvPicPr>
            <a:picLocks noChangeAspect="1"/>
          </p:cNvPicPr>
          <p:nvPr/>
        </p:nvPicPr>
        <p:blipFill>
          <a:blip r:embed="rId4"/>
          <a:srcRect l="30106" r="30106"/>
          <a:stretch>
            <a:fillRect/>
          </a:stretch>
        </p:blipFill>
        <p:spPr>
          <a:xfrm>
            <a:off x="8110727" y="548640"/>
            <a:ext cx="3438144" cy="5760720"/>
          </a:xfrm>
          <a:prstGeom prst="roundRect">
            <a:avLst>
              <a:gd name="adj" fmla="val 4787"/>
            </a:avLst>
          </a:prstGeom>
        </p:spPr>
      </p:pic>
      <p:sp>
        <p:nvSpPr>
          <p:cNvPr id="20" name="Rounded Rectangle 19"/>
          <p:cNvSpPr/>
          <p:nvPr/>
        </p:nvSpPr>
        <p:spPr>
          <a:xfrm>
            <a:off x="8257031" y="5852160"/>
            <a:ext cx="903986" cy="310896"/>
          </a:xfrm>
          <a:prstGeom prst="roundRect">
            <a:avLst>
              <a:gd name="adj" fmla="val 50000"/>
            </a:avLst>
          </a:prstGeom>
          <a:solidFill>
            <a:srgbClr val="E3E3E8">
              <a:alpha val="8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57031" y="5852160"/>
            <a:ext cx="90398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eaLnBrk="0" latinLnBrk="0">
              <a:lnSpc>
                <a:spcPct val="100000"/>
              </a:lnSpc>
            </a:pPr>
            <a:r>
              <a:rPr sz="1200" b="1">
                <a:solidFill>
                  <a:srgbClr val="1D1D1F"/>
                </a:solidFill>
                <a:latin typeface="Noto Sans KR"/>
                <a:ea typeface="Noto Sans KR"/>
                <a:cs typeface="Noto Sans KR"/>
              </a:rPr>
              <a:t>성당 내부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7272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지은네식당 두부 요리"/>
          <p:cNvPicPr>
            <a:picLocks noChangeAspect="1"/>
          </p:cNvPicPr>
          <p:nvPr/>
        </p:nvPicPr>
        <p:blipFill>
          <a:blip r:embed="rId2"/>
          <a:srcRect l="19527" r="19527"/>
          <a:stretch>
            <a:fillRect/>
          </a:stretch>
        </p:blipFill>
        <p:spPr>
          <a:xfrm>
            <a:off x="640080" y="548640"/>
            <a:ext cx="3530498" cy="5760720"/>
          </a:xfrm>
          <a:prstGeom prst="roundRect">
            <a:avLst>
              <a:gd name="adj" fmla="val 4662"/>
            </a:avLst>
          </a:prstGeom>
        </p:spPr>
      </p:pic>
      <p:sp>
        <p:nvSpPr>
          <p:cNvPr id="3" name="Rounded Rectangle 2"/>
          <p:cNvSpPr/>
          <p:nvPr/>
        </p:nvSpPr>
        <p:spPr>
          <a:xfrm>
            <a:off x="786384" y="5852159"/>
            <a:ext cx="1516126" cy="310896"/>
          </a:xfrm>
          <a:prstGeom prst="roundRect">
            <a:avLst>
              <a:gd name="adj" fmla="val 50000"/>
            </a:avLst>
          </a:prstGeom>
          <a:solidFill>
            <a:srgbClr val="E3E3E8">
              <a:alpha val="8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5852159"/>
            <a:ext cx="151612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eaLnBrk="0" latinLnBrk="0">
              <a:lnSpc>
                <a:spcPct val="100000"/>
              </a:lnSpc>
            </a:pPr>
            <a:r>
              <a:rPr sz="1200" b="1">
                <a:solidFill>
                  <a:srgbClr val="1D1D1F"/>
                </a:solidFill>
                <a:latin typeface="Noto Sans KR"/>
                <a:ea typeface="Noto Sans KR"/>
                <a:cs typeface="Noto Sans KR"/>
              </a:rPr>
              <a:t>두부 한 점 + 잡곡밥</a:t>
            </a:r>
          </a:p>
        </p:txBody>
      </p:sp>
      <p:pic>
        <p:nvPicPr>
          <p:cNvPr id="5" name="Picture 4" descr="지은네식당 외관"/>
          <p:cNvPicPr>
            <a:picLocks noChangeAspect="1"/>
          </p:cNvPicPr>
          <p:nvPr/>
        </p:nvPicPr>
        <p:blipFill>
          <a:blip r:embed="rId3"/>
          <a:srcRect l="26155" r="26155"/>
          <a:stretch>
            <a:fillRect/>
          </a:stretch>
        </p:blipFill>
        <p:spPr>
          <a:xfrm>
            <a:off x="4280306" y="548640"/>
            <a:ext cx="2394813" cy="2825496"/>
          </a:xfrm>
          <a:prstGeom prst="roundRect">
            <a:avLst>
              <a:gd name="adj" fmla="val 6872"/>
            </a:avLst>
          </a:prstGeom>
        </p:spPr>
      </p:pic>
      <p:sp>
        <p:nvSpPr>
          <p:cNvPr id="6" name="Rounded Rectangle 5"/>
          <p:cNvSpPr/>
          <p:nvPr/>
        </p:nvSpPr>
        <p:spPr>
          <a:xfrm>
            <a:off x="4408322" y="2935224"/>
            <a:ext cx="903986" cy="310896"/>
          </a:xfrm>
          <a:prstGeom prst="roundRect">
            <a:avLst>
              <a:gd name="adj" fmla="val 50000"/>
            </a:avLst>
          </a:prstGeom>
          <a:solidFill>
            <a:srgbClr val="E3E3E8">
              <a:alpha val="8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08322" y="2935224"/>
            <a:ext cx="90398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eaLnBrk="0" latinLnBrk="0">
              <a:lnSpc>
                <a:spcPct val="100000"/>
              </a:lnSpc>
            </a:pPr>
            <a:r>
              <a:rPr sz="1200" b="1">
                <a:solidFill>
                  <a:srgbClr val="1D1D1F"/>
                </a:solidFill>
                <a:latin typeface="Noto Sans KR"/>
                <a:ea typeface="Noto Sans KR"/>
                <a:cs typeface="Noto Sans KR"/>
              </a:rPr>
              <a:t>식당 외관</a:t>
            </a:r>
          </a:p>
        </p:txBody>
      </p:sp>
      <p:pic>
        <p:nvPicPr>
          <p:cNvPr id="8" name="Picture 7" descr="지은네식당 두부전골"/>
          <p:cNvPicPr>
            <a:picLocks noChangeAspect="1"/>
          </p:cNvPicPr>
          <p:nvPr/>
        </p:nvPicPr>
        <p:blipFill>
          <a:blip r:embed="rId4"/>
          <a:srcRect l="18183" r="18183"/>
          <a:stretch>
            <a:fillRect/>
          </a:stretch>
        </p:blipFill>
        <p:spPr>
          <a:xfrm>
            <a:off x="4280306" y="3483864"/>
            <a:ext cx="2394813" cy="2825496"/>
          </a:xfrm>
          <a:prstGeom prst="roundRect">
            <a:avLst>
              <a:gd name="adj" fmla="val 6872"/>
            </a:avLst>
          </a:prstGeom>
        </p:spPr>
      </p:pic>
      <p:sp>
        <p:nvSpPr>
          <p:cNvPr id="9" name="Rounded Rectangle 8"/>
          <p:cNvSpPr/>
          <p:nvPr/>
        </p:nvSpPr>
        <p:spPr>
          <a:xfrm>
            <a:off x="4408322" y="5870448"/>
            <a:ext cx="1183386" cy="310896"/>
          </a:xfrm>
          <a:prstGeom prst="roundRect">
            <a:avLst>
              <a:gd name="adj" fmla="val 50000"/>
            </a:avLst>
          </a:prstGeom>
          <a:solidFill>
            <a:srgbClr val="E3E3E8">
              <a:alpha val="8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08322" y="5870448"/>
            <a:ext cx="118338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eaLnBrk="0" latinLnBrk="0">
              <a:lnSpc>
                <a:spcPct val="100000"/>
              </a:lnSpc>
            </a:pPr>
            <a:r>
              <a:rPr sz="1200" b="1">
                <a:solidFill>
                  <a:srgbClr val="1D1D1F"/>
                </a:solidFill>
                <a:latin typeface="Noto Sans KR"/>
                <a:ea typeface="Noto Sans KR"/>
                <a:cs typeface="Noto Sans KR"/>
              </a:rPr>
              <a:t>얼큰 두부전골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86600" y="731520"/>
            <a:ext cx="44622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 latinLnBrk="0">
              <a:lnSpc>
                <a:spcPct val="125000"/>
              </a:lnSpc>
            </a:pPr>
            <a:r>
              <a:rPr sz="1300" b="1" spc="4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12:30 – 13:30</a:t>
            </a:r>
            <a:r>
              <a:rPr sz="1300" b="1" spc="40">
                <a:solidFill>
                  <a:srgbClr val="CCCCCC"/>
                </a:solidFill>
                <a:latin typeface="Noto Sans KR"/>
                <a:ea typeface="Noto Sans KR"/>
                <a:cs typeface="Noto Sans KR"/>
              </a:rPr>
              <a:t>   LUNCH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6600" y="1188720"/>
            <a:ext cx="4462272" cy="5694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 latinLnBrk="0">
              <a:lnSpc>
                <a:spcPct val="110000"/>
              </a:lnSpc>
            </a:pPr>
            <a:r>
              <a:rPr sz="3800" b="1" spc="-8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지은네식당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86600" y="1986788"/>
            <a:ext cx="4462272" cy="647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 latinLnBrk="0">
              <a:lnSpc>
                <a:spcPct val="145000"/>
              </a:lnSpc>
            </a:pPr>
            <a:r>
              <a:rPr sz="1700" b="0">
                <a:solidFill>
                  <a:srgbClr val="CCCCCC"/>
                </a:solidFill>
                <a:latin typeface="Noto Sans KR"/>
                <a:ea typeface="Noto Sans KR"/>
                <a:cs typeface="Noto Sans KR"/>
              </a:rPr>
              <a:t>우천면의 두부 요리집. 따끈한 돌솥두부정식으로</a:t>
            </a:r>
            <a:br>
              <a:rPr sz="1700"/>
            </a:br>
            <a:r>
              <a:rPr sz="1700" b="0">
                <a:solidFill>
                  <a:srgbClr val="CCCCCC"/>
                </a:solidFill>
                <a:latin typeface="Noto Sans KR"/>
                <a:ea typeface="Noto Sans KR"/>
                <a:cs typeface="Noto Sans KR"/>
              </a:rPr>
              <a:t>든든하게 첫 끼를 채워요.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86600" y="2908808"/>
            <a:ext cx="3655060" cy="384048"/>
          </a:xfrm>
          <a:prstGeom prst="roundRect">
            <a:avLst>
              <a:gd name="adj" fmla="val 41666"/>
            </a:avLst>
          </a:prstGeom>
          <a:solidFill>
            <a:srgbClr val="3A3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69480" y="2908808"/>
            <a:ext cx="33350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eaLnBrk="0" latinLnBrk="0">
              <a:lnSpc>
                <a:spcPct val="115000"/>
              </a:lnSpc>
            </a:pPr>
            <a:r>
              <a:rPr sz="1100" b="1">
                <a:solidFill>
                  <a:srgbClr val="2997FF"/>
                </a:solidFill>
                <a:latin typeface="Noto Sans KR"/>
                <a:ea typeface="Noto Sans KR"/>
                <a:cs typeface="Noto Sans KR"/>
              </a:rPr>
              <a:t>HEAL POINT  </a:t>
            </a:r>
            <a:r>
              <a:rPr sz="13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맛있는 밥상 앞에서 터지는 수다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086600" y="4608576"/>
            <a:ext cx="4462272" cy="9144"/>
          </a:xfrm>
          <a:prstGeom prst="rect">
            <a:avLst/>
          </a:prstGeom>
          <a:solidFill>
            <a:srgbClr val="4A4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86600" y="4663440"/>
            <a:ext cx="868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 latinLnBrk="0">
              <a:lnSpc>
                <a:spcPct val="100000"/>
              </a:lnSpc>
            </a:pPr>
            <a:r>
              <a:rPr sz="1100" b="1" spc="40">
                <a:solidFill>
                  <a:srgbClr val="CCCCCC"/>
                </a:solidFill>
                <a:latin typeface="Noto Sans KR"/>
                <a:ea typeface="Noto Sans KR"/>
                <a:cs typeface="Noto Sans KR"/>
              </a:rPr>
              <a:t>메뉴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01000" y="4654296"/>
            <a:ext cx="354787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 latinLnBrk="0">
              <a:lnSpc>
                <a:spcPct val="115000"/>
              </a:lnSpc>
            </a:pPr>
            <a:r>
              <a:rPr sz="140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돌솥두부정식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086600" y="5111496"/>
            <a:ext cx="4462272" cy="9144"/>
          </a:xfrm>
          <a:prstGeom prst="rect">
            <a:avLst/>
          </a:prstGeom>
          <a:solidFill>
            <a:srgbClr val="4A4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86600" y="5166359"/>
            <a:ext cx="868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 latinLnBrk="0">
              <a:lnSpc>
                <a:spcPct val="100000"/>
              </a:lnSpc>
            </a:pPr>
            <a:r>
              <a:rPr sz="1100" b="1" spc="40">
                <a:solidFill>
                  <a:srgbClr val="CCCCCC"/>
                </a:solidFill>
                <a:latin typeface="Noto Sans KR"/>
                <a:ea typeface="Noto Sans KR"/>
                <a:cs typeface="Noto Sans KR"/>
              </a:rPr>
              <a:t>주소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01000" y="5157216"/>
            <a:ext cx="354787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 latinLnBrk="0">
              <a:lnSpc>
                <a:spcPct val="115000"/>
              </a:lnSpc>
            </a:pPr>
            <a:r>
              <a:rPr sz="140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횡성군 우천면 수남로248번길 39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086600" y="5614416"/>
            <a:ext cx="4462272" cy="9144"/>
          </a:xfrm>
          <a:prstGeom prst="rect">
            <a:avLst/>
          </a:prstGeom>
          <a:solidFill>
            <a:srgbClr val="4A4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86600" y="5669279"/>
            <a:ext cx="868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 latinLnBrk="0">
              <a:lnSpc>
                <a:spcPct val="100000"/>
              </a:lnSpc>
            </a:pPr>
            <a:r>
              <a:rPr sz="1100" b="1" spc="40">
                <a:solidFill>
                  <a:srgbClr val="CCCCCC"/>
                </a:solidFill>
                <a:latin typeface="Noto Sans KR"/>
                <a:ea typeface="Noto Sans KR"/>
                <a:cs typeface="Noto Sans KR"/>
              </a:rPr>
              <a:t>지도</a:t>
            </a:r>
          </a:p>
        </p:txBody>
      </p:sp>
      <p:sp>
        <p:nvSpPr>
          <p:cNvPr id="24" name="TextBox 23">
            <a:hlinkClick r:id="rId5"/>
          </p:cNvPr>
          <p:cNvSpPr txBox="1"/>
          <p:nvPr/>
        </p:nvSpPr>
        <p:spPr>
          <a:xfrm>
            <a:off x="8001000" y="5660136"/>
            <a:ext cx="354787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 latinLnBrk="0">
              <a:lnSpc>
                <a:spcPct val="115000"/>
              </a:lnSpc>
            </a:pPr>
            <a:r>
              <a:rPr sz="1400" b="0">
                <a:solidFill>
                  <a:srgbClr val="2997FF"/>
                </a:solidFill>
                <a:latin typeface="Noto Sans KR"/>
                <a:ea typeface="Noto Sans KR"/>
                <a:cs typeface="Noto Sans KR"/>
              </a:rPr>
              <a:t>네이버지도에서 보기 ›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731520"/>
            <a:ext cx="4297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 latinLnBrk="0">
              <a:lnSpc>
                <a:spcPct val="125000"/>
              </a:lnSpc>
            </a:pPr>
            <a:r>
              <a:rPr sz="1300" b="1" spc="40">
                <a:solidFill>
                  <a:srgbClr val="1D1D1F"/>
                </a:solidFill>
                <a:latin typeface="Noto Sans KR"/>
                <a:ea typeface="Noto Sans KR"/>
                <a:cs typeface="Noto Sans KR"/>
              </a:rPr>
              <a:t>13:40 – 14:40</a:t>
            </a:r>
            <a:r>
              <a:rPr sz="1300" b="1" spc="40">
                <a:solidFill>
                  <a:srgbClr val="7A7A7A"/>
                </a:solidFill>
                <a:latin typeface="Noto Sans KR"/>
                <a:ea typeface="Noto Sans KR"/>
                <a:cs typeface="Noto Sans KR"/>
              </a:rPr>
              <a:t>   TEAM BUILDING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4297680" cy="5694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 latinLnBrk="0">
              <a:lnSpc>
                <a:spcPct val="110000"/>
              </a:lnSpc>
            </a:pPr>
            <a:r>
              <a:rPr sz="3800" b="1" spc="-80">
                <a:solidFill>
                  <a:srgbClr val="1D1D1F"/>
                </a:solidFill>
                <a:latin typeface="Noto Sans KR"/>
                <a:ea typeface="Noto Sans KR"/>
                <a:cs typeface="Noto Sans KR"/>
              </a:rPr>
              <a:t>횡성루지체험장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86788"/>
            <a:ext cx="4297680" cy="647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 latinLnBrk="0">
              <a:lnSpc>
                <a:spcPct val="145000"/>
              </a:lnSpc>
            </a:pPr>
            <a:r>
              <a:rPr sz="1700" b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내리막을 달리며 스트레스를 시원하게 날리는</a:t>
            </a:r>
            <a:br>
              <a:rPr sz="1700"/>
            </a:br>
            <a:r>
              <a:rPr sz="1700" b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시간. 2회 탑승 기준 총 50분 정도 걸려요.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908808"/>
            <a:ext cx="4133849" cy="384048"/>
          </a:xfrm>
          <a:prstGeom prst="roundRect">
            <a:avLst>
              <a:gd name="adj" fmla="val 41666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908808"/>
            <a:ext cx="381381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eaLnBrk="0" latinLnBrk="0">
              <a:lnSpc>
                <a:spcPct val="115000"/>
              </a:lnSpc>
            </a:pPr>
            <a:r>
              <a:rPr sz="1100" b="1">
                <a:solidFill>
                  <a:srgbClr val="0066CC"/>
                </a:solidFill>
                <a:latin typeface="Noto Sans KR"/>
                <a:ea typeface="Noto Sans KR"/>
                <a:cs typeface="Noto Sans KR"/>
              </a:rPr>
              <a:t>HEAL POINT  </a:t>
            </a:r>
            <a:r>
              <a:rPr sz="1300" b="1">
                <a:solidFill>
                  <a:srgbClr val="1D1D1F"/>
                </a:solidFill>
                <a:latin typeface="Noto Sans KR"/>
                <a:ea typeface="Noto Sans KR"/>
                <a:cs typeface="Noto Sans KR"/>
              </a:rPr>
              <a:t>소리 질러도 되는 시간 · 이번엔 스피드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4608576"/>
            <a:ext cx="4297680" cy="9144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4663440"/>
            <a:ext cx="868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 latinLnBrk="0">
              <a:lnSpc>
                <a:spcPct val="100000"/>
              </a:lnSpc>
            </a:pPr>
            <a:r>
              <a:rPr sz="1100" b="1" spc="40">
                <a:solidFill>
                  <a:srgbClr val="7A7A7A"/>
                </a:solidFill>
                <a:latin typeface="Noto Sans KR"/>
                <a:ea typeface="Noto Sans KR"/>
                <a:cs typeface="Noto Sans KR"/>
              </a:rPr>
              <a:t>체험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4654296"/>
            <a:ext cx="3383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 latinLnBrk="0">
              <a:lnSpc>
                <a:spcPct val="115000"/>
              </a:lnSpc>
            </a:pPr>
            <a:r>
              <a:rPr sz="1400" b="0">
                <a:solidFill>
                  <a:srgbClr val="1D1D1F"/>
                </a:solidFill>
                <a:latin typeface="Noto Sans KR"/>
                <a:ea typeface="Noto Sans KR"/>
                <a:cs typeface="Noto Sans KR"/>
              </a:rPr>
              <a:t>루지 2회 탑승 (총 약 50분)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5111496"/>
            <a:ext cx="4297680" cy="9144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5166359"/>
            <a:ext cx="868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 latinLnBrk="0">
              <a:lnSpc>
                <a:spcPct val="100000"/>
              </a:lnSpc>
            </a:pPr>
            <a:r>
              <a:rPr sz="1100" b="1" spc="40">
                <a:solidFill>
                  <a:srgbClr val="7A7A7A"/>
                </a:solidFill>
                <a:latin typeface="Noto Sans KR"/>
                <a:ea typeface="Noto Sans KR"/>
                <a:cs typeface="Noto Sans KR"/>
              </a:rPr>
              <a:t>주소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5157216"/>
            <a:ext cx="3383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 latinLnBrk="0">
              <a:lnSpc>
                <a:spcPct val="115000"/>
              </a:lnSpc>
            </a:pPr>
            <a:r>
              <a:rPr sz="1400" b="0">
                <a:solidFill>
                  <a:srgbClr val="1D1D1F"/>
                </a:solidFill>
                <a:latin typeface="Noto Sans KR"/>
                <a:ea typeface="Noto Sans KR"/>
                <a:cs typeface="Noto Sans KR"/>
              </a:rPr>
              <a:t>횡성군 우천면 전재로 407-6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5614416"/>
            <a:ext cx="4297680" cy="9144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5669279"/>
            <a:ext cx="868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 latinLnBrk="0">
              <a:lnSpc>
                <a:spcPct val="100000"/>
              </a:lnSpc>
            </a:pPr>
            <a:r>
              <a:rPr sz="1100" b="1" spc="40">
                <a:solidFill>
                  <a:srgbClr val="7A7A7A"/>
                </a:solidFill>
                <a:latin typeface="Noto Sans KR"/>
                <a:ea typeface="Noto Sans KR"/>
                <a:cs typeface="Noto Sans KR"/>
              </a:rPr>
              <a:t>링크</a:t>
            </a:r>
          </a:p>
        </p:txBody>
      </p:sp>
      <p:sp>
        <p:nvSpPr>
          <p:cNvPr id="15" name="TextBox 14">
            <a:hlinkClick r:id="rId2"/>
          </p:cNvPr>
          <p:cNvSpPr txBox="1"/>
          <p:nvPr/>
        </p:nvSpPr>
        <p:spPr>
          <a:xfrm>
            <a:off x="1554480" y="5660136"/>
            <a:ext cx="3383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 latinLnBrk="0">
              <a:lnSpc>
                <a:spcPct val="115000"/>
              </a:lnSpc>
            </a:pPr>
            <a:r>
              <a:rPr sz="1400" b="0">
                <a:solidFill>
                  <a:srgbClr val="0066CC"/>
                </a:solidFill>
                <a:latin typeface="Noto Sans KR"/>
                <a:ea typeface="Noto Sans KR"/>
                <a:cs typeface="Noto Sans KR"/>
              </a:rPr>
              <a:t>공식 홈페이지 ›</a:t>
            </a:r>
          </a:p>
        </p:txBody>
      </p:sp>
      <p:pic>
        <p:nvPicPr>
          <p:cNvPr id="16" name="Picture 15" descr="횡성루지체험장 코스를 달리는 루지"/>
          <p:cNvPicPr>
            <a:picLocks noChangeAspect="1"/>
          </p:cNvPicPr>
          <p:nvPr/>
        </p:nvPicPr>
        <p:blipFill>
          <a:blip r:embed="rId3"/>
          <a:srcRect l="18057" r="18057"/>
          <a:stretch>
            <a:fillRect/>
          </a:stretch>
        </p:blipFill>
        <p:spPr>
          <a:xfrm>
            <a:off x="5257800" y="548640"/>
            <a:ext cx="3680277" cy="5760720"/>
          </a:xfrm>
          <a:prstGeom prst="roundRect">
            <a:avLst>
              <a:gd name="adj" fmla="val 4472"/>
            </a:avLst>
          </a:prstGeom>
        </p:spPr>
      </p:pic>
      <p:sp>
        <p:nvSpPr>
          <p:cNvPr id="17" name="Rounded Rectangle 16"/>
          <p:cNvSpPr/>
          <p:nvPr/>
        </p:nvSpPr>
        <p:spPr>
          <a:xfrm>
            <a:off x="5404104" y="5852159"/>
            <a:ext cx="1288796" cy="310896"/>
          </a:xfrm>
          <a:prstGeom prst="roundRect">
            <a:avLst>
              <a:gd name="adj" fmla="val 50000"/>
            </a:avLst>
          </a:prstGeom>
          <a:solidFill>
            <a:srgbClr val="E3E3E8">
              <a:alpha val="8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04104" y="5852159"/>
            <a:ext cx="12887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eaLnBrk="0" latinLnBrk="0">
              <a:lnSpc>
                <a:spcPct val="100000"/>
              </a:lnSpc>
            </a:pPr>
            <a:r>
              <a:rPr sz="1200" b="1">
                <a:solidFill>
                  <a:srgbClr val="1D1D1F"/>
                </a:solidFill>
                <a:latin typeface="Noto Sans KR"/>
                <a:ea typeface="Noto Sans KR"/>
                <a:cs typeface="Noto Sans KR"/>
              </a:rPr>
              <a:t>횡성루지체험장</a:t>
            </a:r>
          </a:p>
        </p:txBody>
      </p:sp>
      <p:pic>
        <p:nvPicPr>
          <p:cNvPr id="19" name="Picture 18" descr="내리막 코스를 달리는 루지"/>
          <p:cNvPicPr>
            <a:picLocks noChangeAspect="1"/>
          </p:cNvPicPr>
          <p:nvPr/>
        </p:nvPicPr>
        <p:blipFill>
          <a:blip r:embed="rId4"/>
          <a:srcRect l="5741" r="5741"/>
          <a:stretch>
            <a:fillRect/>
          </a:stretch>
        </p:blipFill>
        <p:spPr>
          <a:xfrm>
            <a:off x="9047805" y="548640"/>
            <a:ext cx="2501066" cy="2825496"/>
          </a:xfrm>
          <a:prstGeom prst="roundRect">
            <a:avLst>
              <a:gd name="adj" fmla="val 6580"/>
            </a:avLst>
          </a:prstGeom>
        </p:spPr>
      </p:pic>
      <p:sp>
        <p:nvSpPr>
          <p:cNvPr id="20" name="Rounded Rectangle 19"/>
          <p:cNvSpPr/>
          <p:nvPr/>
        </p:nvSpPr>
        <p:spPr>
          <a:xfrm>
            <a:off x="9175821" y="2935224"/>
            <a:ext cx="1043686" cy="310896"/>
          </a:xfrm>
          <a:prstGeom prst="roundRect">
            <a:avLst>
              <a:gd name="adj" fmla="val 50000"/>
            </a:avLst>
          </a:prstGeom>
          <a:solidFill>
            <a:srgbClr val="E3E3E8">
              <a:alpha val="8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75821" y="2935224"/>
            <a:ext cx="104368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eaLnBrk="0" latinLnBrk="0">
              <a:lnSpc>
                <a:spcPct val="100000"/>
              </a:lnSpc>
            </a:pPr>
            <a:r>
              <a:rPr sz="1200" b="1">
                <a:solidFill>
                  <a:srgbClr val="1D1D1F"/>
                </a:solidFill>
                <a:latin typeface="Noto Sans KR"/>
                <a:ea typeface="Noto Sans KR"/>
                <a:cs typeface="Noto Sans KR"/>
              </a:rPr>
              <a:t>내리막 질주</a:t>
            </a:r>
          </a:p>
        </p:txBody>
      </p:sp>
      <p:pic>
        <p:nvPicPr>
          <p:cNvPr id="22" name="Picture 21" descr="탑승을 기다리는 루지 카트들"/>
          <p:cNvPicPr>
            <a:picLocks noChangeAspect="1"/>
          </p:cNvPicPr>
          <p:nvPr/>
        </p:nvPicPr>
        <p:blipFill>
          <a:blip r:embed="rId5"/>
          <a:srcRect l="5741" r="5741"/>
          <a:stretch>
            <a:fillRect/>
          </a:stretch>
        </p:blipFill>
        <p:spPr>
          <a:xfrm>
            <a:off x="9047805" y="3483864"/>
            <a:ext cx="2501066" cy="2825496"/>
          </a:xfrm>
          <a:prstGeom prst="roundRect">
            <a:avLst>
              <a:gd name="adj" fmla="val 6580"/>
            </a:avLst>
          </a:prstGeom>
        </p:spPr>
      </p:pic>
      <p:sp>
        <p:nvSpPr>
          <p:cNvPr id="23" name="Rounded Rectangle 22"/>
          <p:cNvSpPr/>
          <p:nvPr/>
        </p:nvSpPr>
        <p:spPr>
          <a:xfrm>
            <a:off x="9175821" y="5870448"/>
            <a:ext cx="1217676" cy="310896"/>
          </a:xfrm>
          <a:prstGeom prst="roundRect">
            <a:avLst>
              <a:gd name="adj" fmla="val 50000"/>
            </a:avLst>
          </a:prstGeom>
          <a:solidFill>
            <a:srgbClr val="E3E3E8">
              <a:alpha val="8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75821" y="5870448"/>
            <a:ext cx="121767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eaLnBrk="0" latinLnBrk="0">
              <a:lnSpc>
                <a:spcPct val="100000"/>
              </a:lnSpc>
            </a:pPr>
            <a:r>
              <a:rPr sz="1200" b="1">
                <a:solidFill>
                  <a:srgbClr val="1D1D1F"/>
                </a:solidFill>
                <a:latin typeface="Noto Sans KR"/>
                <a:ea typeface="Noto Sans KR"/>
                <a:cs typeface="Noto Sans KR"/>
              </a:rPr>
              <a:t>출발 대기 라인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731520"/>
            <a:ext cx="4297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 latinLnBrk="0">
              <a:lnSpc>
                <a:spcPct val="125000"/>
              </a:lnSpc>
            </a:pPr>
            <a:r>
              <a:rPr sz="1300" b="1" spc="40">
                <a:solidFill>
                  <a:srgbClr val="1D1D1F"/>
                </a:solidFill>
                <a:latin typeface="Noto Sans KR"/>
                <a:ea typeface="Noto Sans KR"/>
                <a:cs typeface="Noto Sans KR"/>
              </a:rPr>
              <a:t>14:50 – 15:30</a:t>
            </a:r>
            <a:r>
              <a:rPr sz="1300" b="1" spc="40">
                <a:solidFill>
                  <a:srgbClr val="7A7A7A"/>
                </a:solidFill>
                <a:latin typeface="Noto Sans KR"/>
                <a:ea typeface="Noto Sans KR"/>
                <a:cs typeface="Noto Sans KR"/>
              </a:rPr>
              <a:t>   GROCERY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4297680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 latinLnBrk="0">
              <a:lnSpc>
                <a:spcPct val="110000"/>
              </a:lnSpc>
            </a:pPr>
            <a:r>
              <a:rPr sz="3600" b="1" spc="-80">
                <a:solidFill>
                  <a:srgbClr val="1D1D1F"/>
                </a:solidFill>
                <a:latin typeface="Noto Sans KR"/>
                <a:ea typeface="Noto Sans KR"/>
                <a:cs typeface="Noto Sans KR"/>
              </a:rPr>
              <a:t>하나로마트</a:t>
            </a:r>
            <a:br>
              <a:rPr sz="3600"/>
            </a:br>
            <a:r>
              <a:rPr sz="3600" b="1" spc="-80">
                <a:solidFill>
                  <a:srgbClr val="1D1D1F"/>
                </a:solidFill>
                <a:latin typeface="Noto Sans KR"/>
                <a:ea typeface="Noto Sans KR"/>
                <a:cs typeface="Noto Sans KR"/>
              </a:rPr>
              <a:t>동횡성농협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96312"/>
            <a:ext cx="4297680" cy="647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 latinLnBrk="0">
              <a:lnSpc>
                <a:spcPct val="145000"/>
              </a:lnSpc>
            </a:pPr>
            <a:r>
              <a:rPr sz="1700" b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저녁 바베큐 재료를 다 같이 고르는 시간.</a:t>
            </a:r>
            <a:br>
              <a:rPr sz="1700"/>
            </a:br>
            <a:r>
              <a:rPr sz="1700" b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카트는 한 대, 의견은 열 개.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3418332"/>
            <a:ext cx="3350260" cy="384048"/>
          </a:xfrm>
          <a:prstGeom prst="roundRect">
            <a:avLst>
              <a:gd name="adj" fmla="val 41666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3418332"/>
            <a:ext cx="30302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eaLnBrk="0" latinLnBrk="0">
              <a:lnSpc>
                <a:spcPct val="115000"/>
              </a:lnSpc>
            </a:pPr>
            <a:r>
              <a:rPr sz="1100" b="1">
                <a:solidFill>
                  <a:srgbClr val="0066CC"/>
                </a:solidFill>
                <a:latin typeface="Noto Sans KR"/>
                <a:ea typeface="Noto Sans KR"/>
                <a:cs typeface="Noto Sans KR"/>
              </a:rPr>
              <a:t>HEAL POINT  </a:t>
            </a:r>
            <a:r>
              <a:rPr sz="1300" b="1">
                <a:solidFill>
                  <a:srgbClr val="1D1D1F"/>
                </a:solidFill>
                <a:latin typeface="Noto Sans KR"/>
                <a:ea typeface="Noto Sans KR"/>
                <a:cs typeface="Noto Sans KR"/>
              </a:rPr>
              <a:t>같이 장 보는 소소한 즐거움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4608576"/>
            <a:ext cx="4297680" cy="9144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4663440"/>
            <a:ext cx="868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 latinLnBrk="0">
              <a:lnSpc>
                <a:spcPct val="100000"/>
              </a:lnSpc>
            </a:pPr>
            <a:r>
              <a:rPr sz="1100" b="1" spc="40">
                <a:solidFill>
                  <a:srgbClr val="7A7A7A"/>
                </a:solidFill>
                <a:latin typeface="Noto Sans KR"/>
                <a:ea typeface="Noto Sans KR"/>
                <a:cs typeface="Noto Sans KR"/>
              </a:rPr>
              <a:t>미션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4654296"/>
            <a:ext cx="3383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 latinLnBrk="0">
              <a:lnSpc>
                <a:spcPct val="115000"/>
              </a:lnSpc>
            </a:pPr>
            <a:r>
              <a:rPr sz="1400" b="0">
                <a:solidFill>
                  <a:srgbClr val="1D1D1F"/>
                </a:solidFill>
                <a:latin typeface="Noto Sans KR"/>
                <a:ea typeface="Noto Sans KR"/>
                <a:cs typeface="Noto Sans KR"/>
              </a:rPr>
              <a:t>저녁 바베큐 재료 장보기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5111496"/>
            <a:ext cx="4297680" cy="9144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5166359"/>
            <a:ext cx="868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 latinLnBrk="0">
              <a:lnSpc>
                <a:spcPct val="100000"/>
              </a:lnSpc>
            </a:pPr>
            <a:r>
              <a:rPr sz="1100" b="1" spc="40">
                <a:solidFill>
                  <a:srgbClr val="7A7A7A"/>
                </a:solidFill>
                <a:latin typeface="Noto Sans KR"/>
                <a:ea typeface="Noto Sans KR"/>
                <a:cs typeface="Noto Sans KR"/>
              </a:rPr>
              <a:t>주소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5157216"/>
            <a:ext cx="3383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 latinLnBrk="0">
              <a:lnSpc>
                <a:spcPct val="115000"/>
              </a:lnSpc>
            </a:pPr>
            <a:r>
              <a:rPr sz="1400" b="0">
                <a:solidFill>
                  <a:srgbClr val="1D1D1F"/>
                </a:solidFill>
                <a:latin typeface="Noto Sans KR"/>
                <a:ea typeface="Noto Sans KR"/>
                <a:cs typeface="Noto Sans KR"/>
              </a:rPr>
              <a:t>횡성군 우천면 수남로 356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5614416"/>
            <a:ext cx="4297680" cy="9144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5669279"/>
            <a:ext cx="868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 latinLnBrk="0">
              <a:lnSpc>
                <a:spcPct val="100000"/>
              </a:lnSpc>
            </a:pPr>
            <a:r>
              <a:rPr sz="1100" b="1" spc="40">
                <a:solidFill>
                  <a:srgbClr val="7A7A7A"/>
                </a:solidFill>
                <a:latin typeface="Noto Sans KR"/>
                <a:ea typeface="Noto Sans KR"/>
                <a:cs typeface="Noto Sans KR"/>
              </a:rPr>
              <a:t>지도</a:t>
            </a:r>
          </a:p>
        </p:txBody>
      </p:sp>
      <p:sp>
        <p:nvSpPr>
          <p:cNvPr id="15" name="TextBox 14">
            <a:hlinkClick r:id="rId2"/>
          </p:cNvPr>
          <p:cNvSpPr txBox="1"/>
          <p:nvPr/>
        </p:nvSpPr>
        <p:spPr>
          <a:xfrm>
            <a:off x="1554480" y="5660136"/>
            <a:ext cx="3383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 latinLnBrk="0">
              <a:lnSpc>
                <a:spcPct val="115000"/>
              </a:lnSpc>
            </a:pPr>
            <a:r>
              <a:rPr sz="1400" b="0">
                <a:solidFill>
                  <a:srgbClr val="0066CC"/>
                </a:solidFill>
                <a:latin typeface="Noto Sans KR"/>
                <a:ea typeface="Noto Sans KR"/>
                <a:cs typeface="Noto Sans KR"/>
              </a:rPr>
              <a:t>네이버지도에서 보기 ›</a:t>
            </a:r>
          </a:p>
        </p:txBody>
      </p:sp>
      <p:pic>
        <p:nvPicPr>
          <p:cNvPr id="16" name="Picture 15" descr="하나로마트 동횡성농협 외관"/>
          <p:cNvPicPr>
            <a:picLocks noChangeAspect="1"/>
          </p:cNvPicPr>
          <p:nvPr/>
        </p:nvPicPr>
        <p:blipFill>
          <a:blip r:embed="rId3"/>
          <a:srcRect l="9048" r="9048"/>
          <a:stretch>
            <a:fillRect/>
          </a:stretch>
        </p:blipFill>
        <p:spPr>
          <a:xfrm>
            <a:off x="5257800" y="548640"/>
            <a:ext cx="6291072" cy="5760720"/>
          </a:xfrm>
          <a:prstGeom prst="roundRect">
            <a:avLst>
              <a:gd name="adj" fmla="val 2857"/>
            </a:avLst>
          </a:prstGeom>
        </p:spPr>
      </p:pic>
      <p:sp>
        <p:nvSpPr>
          <p:cNvPr id="17" name="Rounded Rectangle 16"/>
          <p:cNvSpPr/>
          <p:nvPr/>
        </p:nvSpPr>
        <p:spPr>
          <a:xfrm>
            <a:off x="5404104" y="5852160"/>
            <a:ext cx="1742186" cy="310896"/>
          </a:xfrm>
          <a:prstGeom prst="roundRect">
            <a:avLst>
              <a:gd name="adj" fmla="val 50000"/>
            </a:avLst>
          </a:prstGeom>
          <a:solidFill>
            <a:srgbClr val="E3E3E8">
              <a:alpha val="8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04104" y="5852160"/>
            <a:ext cx="174218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eaLnBrk="0" latinLnBrk="0">
              <a:lnSpc>
                <a:spcPct val="100000"/>
              </a:lnSpc>
            </a:pPr>
            <a:r>
              <a:rPr sz="1200" b="1">
                <a:solidFill>
                  <a:srgbClr val="1D1D1F"/>
                </a:solidFill>
                <a:latin typeface="Noto Sans KR"/>
                <a:ea typeface="Noto Sans KR"/>
                <a:cs typeface="Noto Sans KR"/>
              </a:rPr>
              <a:t>동횡성농협 하나로마트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48640"/>
            <a:ext cx="121916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eaLnBrk="0" latinLnBrk="0">
              <a:lnSpc>
                <a:spcPct val="125000"/>
              </a:lnSpc>
            </a:pPr>
            <a:r>
              <a:rPr sz="1300" b="1" spc="40">
                <a:solidFill>
                  <a:srgbClr val="1D1D1F"/>
                </a:solidFill>
                <a:latin typeface="Noto Sans KR"/>
                <a:ea typeface="Noto Sans KR"/>
                <a:cs typeface="Noto Sans KR"/>
              </a:rPr>
              <a:t>15:40 – 17:00</a:t>
            </a:r>
            <a:r>
              <a:rPr sz="1300" b="1" spc="40">
                <a:solidFill>
                  <a:srgbClr val="7A7A7A"/>
                </a:solidFill>
                <a:latin typeface="Noto Sans KR"/>
                <a:ea typeface="Noto Sans KR"/>
                <a:cs typeface="Noto Sans KR"/>
              </a:rPr>
              <a:t>   CAFÉ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558887" y="512064"/>
            <a:ext cx="608330" cy="274320"/>
          </a:xfrm>
          <a:prstGeom prst="roundRect">
            <a:avLst>
              <a:gd name="adj" fmla="val 50000"/>
            </a:avLst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558887" y="512064"/>
            <a:ext cx="60833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eaLnBrk="0" latinLnBrk="0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택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914400"/>
            <a:ext cx="1219169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eaLnBrk="0" latinLnBrk="0">
              <a:lnSpc>
                <a:spcPct val="110000"/>
              </a:lnSpc>
            </a:pPr>
            <a:r>
              <a:rPr sz="4000" b="1" spc="-80">
                <a:solidFill>
                  <a:srgbClr val="1D1D1F"/>
                </a:solidFill>
                <a:latin typeface="Noto Sans KR"/>
                <a:ea typeface="Noto Sans KR"/>
                <a:cs typeface="Noto Sans KR"/>
              </a:rPr>
              <a:t>오늘의 카페는 어디?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1691640"/>
            <a:ext cx="121916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eaLnBrk="0" latinLnBrk="0">
              <a:lnSpc>
                <a:spcPct val="125000"/>
              </a:lnSpc>
            </a:pPr>
            <a:r>
              <a:rPr sz="1700" b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분위기 다른 세 곳 중 한 곳. 현장에서 팀 컨디션 따라 골라요.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194560"/>
            <a:ext cx="3484778" cy="4343400"/>
          </a:xfrm>
          <a:prstGeom prst="roundRect">
            <a:avLst>
              <a:gd name="adj" fmla="val 4723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타이페이909 카페 내부"/>
          <p:cNvPicPr>
            <a:picLocks noChangeAspect="1"/>
          </p:cNvPicPr>
          <p:nvPr/>
        </p:nvPicPr>
        <p:blipFill>
          <a:blip r:embed="rId2"/>
          <a:srcRect t="22651" b="42065"/>
          <a:stretch>
            <a:fillRect/>
          </a:stretch>
        </p:blipFill>
        <p:spPr>
          <a:xfrm>
            <a:off x="749808" y="2304288"/>
            <a:ext cx="3265322" cy="1536192"/>
          </a:xfrm>
          <a:prstGeom prst="roundRect">
            <a:avLst>
              <a:gd name="adj" fmla="val 7142"/>
            </a:avLst>
          </a:prstGeom>
        </p:spPr>
      </p:pic>
      <p:sp>
        <p:nvSpPr>
          <p:cNvPr id="9" name="Rounded Rectangle 8"/>
          <p:cNvSpPr/>
          <p:nvPr/>
        </p:nvSpPr>
        <p:spPr>
          <a:xfrm>
            <a:off x="896112" y="3383280"/>
            <a:ext cx="903986" cy="310896"/>
          </a:xfrm>
          <a:prstGeom prst="roundRect">
            <a:avLst>
              <a:gd name="adj" fmla="val 50000"/>
            </a:avLst>
          </a:prstGeom>
          <a:solidFill>
            <a:srgbClr val="E3E3E8">
              <a:alpha val="8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3383280"/>
            <a:ext cx="90398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eaLnBrk="0" latinLnBrk="0">
              <a:lnSpc>
                <a:spcPct val="100000"/>
              </a:lnSpc>
            </a:pPr>
            <a:r>
              <a:rPr sz="1200" b="1">
                <a:solidFill>
                  <a:srgbClr val="1D1D1F"/>
                </a:solidFill>
                <a:latin typeface="Noto Sans KR"/>
                <a:ea typeface="Noto Sans KR"/>
                <a:cs typeface="Noto Sans KR"/>
              </a:rPr>
              <a:t>카페 내부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4041648"/>
            <a:ext cx="297271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 latinLnBrk="0">
              <a:lnSpc>
                <a:spcPct val="100000"/>
              </a:lnSpc>
            </a:pPr>
            <a:r>
              <a:rPr sz="1100" b="1" spc="40">
                <a:solidFill>
                  <a:srgbClr val="0066CC"/>
                </a:solidFill>
                <a:latin typeface="Noto Sans KR"/>
                <a:ea typeface="Noto Sans KR"/>
                <a:cs typeface="Noto Sans KR"/>
              </a:rPr>
              <a:t>대만식 카페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4315968"/>
            <a:ext cx="297271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 latinLnBrk="0">
              <a:lnSpc>
                <a:spcPct val="105000"/>
              </a:lnSpc>
            </a:pPr>
            <a:r>
              <a:rPr sz="2200" b="1" spc="-50">
                <a:solidFill>
                  <a:srgbClr val="1D1D1F"/>
                </a:solidFill>
                <a:latin typeface="Noto Sans KR"/>
                <a:ea typeface="Noto Sans KR"/>
                <a:cs typeface="Noto Sans KR"/>
              </a:rPr>
              <a:t>타이페이909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4791456"/>
            <a:ext cx="297271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 latinLnBrk="0">
              <a:lnSpc>
                <a:spcPct val="140000"/>
              </a:lnSpc>
            </a:pPr>
            <a:r>
              <a:rPr sz="1400" b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대만 사장님이 운영하는 카페. 버블티와</a:t>
            </a:r>
            <a:br>
              <a:rPr sz="1400"/>
            </a:br>
            <a:r>
              <a:rPr sz="1400" b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대만식 디저트가 시그니처예요.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5824728"/>
            <a:ext cx="297271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 latinLnBrk="0">
              <a:lnSpc>
                <a:spcPct val="110000"/>
              </a:lnSpc>
            </a:pPr>
            <a:r>
              <a:rPr sz="1100" b="0">
                <a:solidFill>
                  <a:srgbClr val="7A7A7A"/>
                </a:solidFill>
                <a:latin typeface="Noto Sans KR"/>
                <a:ea typeface="Noto Sans KR"/>
                <a:cs typeface="Noto Sans KR"/>
              </a:rPr>
              <a:t>횡성군 우천면 전재로16번길 81</a:t>
            </a:r>
          </a:p>
        </p:txBody>
      </p:sp>
      <p:sp>
        <p:nvSpPr>
          <p:cNvPr id="15" name="TextBox 14">
            <a:hlinkClick r:id="rId3"/>
          </p:cNvPr>
          <p:cNvSpPr txBox="1"/>
          <p:nvPr/>
        </p:nvSpPr>
        <p:spPr>
          <a:xfrm>
            <a:off x="896112" y="6080760"/>
            <a:ext cx="297271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 latinLnBrk="0">
              <a:lnSpc>
                <a:spcPct val="100000"/>
              </a:lnSpc>
            </a:pPr>
            <a:r>
              <a:rPr sz="1400" b="0">
                <a:solidFill>
                  <a:srgbClr val="0066CC"/>
                </a:solidFill>
                <a:latin typeface="Noto Sans KR"/>
                <a:ea typeface="Noto Sans KR"/>
                <a:cs typeface="Noto Sans KR"/>
              </a:rPr>
              <a:t>지도 보기 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53458" y="2194560"/>
            <a:ext cx="3484778" cy="4343400"/>
          </a:xfrm>
          <a:prstGeom prst="roundRect">
            <a:avLst>
              <a:gd name="adj" fmla="val 4723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호수길133 카페 정원"/>
          <p:cNvPicPr>
            <a:picLocks noChangeAspect="1"/>
          </p:cNvPicPr>
          <p:nvPr/>
        </p:nvPicPr>
        <p:blipFill>
          <a:blip r:embed="rId4"/>
          <a:srcRect t="27226" b="27226"/>
          <a:stretch>
            <a:fillRect/>
          </a:stretch>
        </p:blipFill>
        <p:spPr>
          <a:xfrm>
            <a:off x="4463186" y="2304288"/>
            <a:ext cx="3265322" cy="1536192"/>
          </a:xfrm>
          <a:prstGeom prst="roundRect">
            <a:avLst>
              <a:gd name="adj" fmla="val 7142"/>
            </a:avLst>
          </a:prstGeom>
        </p:spPr>
      </p:pic>
      <p:sp>
        <p:nvSpPr>
          <p:cNvPr id="18" name="Rounded Rectangle 17"/>
          <p:cNvSpPr/>
          <p:nvPr/>
        </p:nvSpPr>
        <p:spPr>
          <a:xfrm>
            <a:off x="4609490" y="3383280"/>
            <a:ext cx="903986" cy="310896"/>
          </a:xfrm>
          <a:prstGeom prst="roundRect">
            <a:avLst>
              <a:gd name="adj" fmla="val 50000"/>
            </a:avLst>
          </a:prstGeom>
          <a:solidFill>
            <a:srgbClr val="E3E3E8">
              <a:alpha val="8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09490" y="3383280"/>
            <a:ext cx="90398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eaLnBrk="0" latinLnBrk="0">
              <a:lnSpc>
                <a:spcPct val="100000"/>
              </a:lnSpc>
            </a:pPr>
            <a:r>
              <a:rPr sz="1200" b="1">
                <a:solidFill>
                  <a:srgbClr val="1D1D1F"/>
                </a:solidFill>
                <a:latin typeface="Noto Sans KR"/>
                <a:ea typeface="Noto Sans KR"/>
                <a:cs typeface="Noto Sans KR"/>
              </a:rPr>
              <a:t>카페 정원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09490" y="4041648"/>
            <a:ext cx="297271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 latinLnBrk="0">
              <a:lnSpc>
                <a:spcPct val="100000"/>
              </a:lnSpc>
            </a:pPr>
            <a:r>
              <a:rPr sz="1100" b="1" spc="40">
                <a:solidFill>
                  <a:srgbClr val="0066CC"/>
                </a:solidFill>
                <a:latin typeface="Noto Sans KR"/>
                <a:ea typeface="Noto Sans KR"/>
                <a:cs typeface="Noto Sans KR"/>
              </a:rPr>
              <a:t>정원 · 호수 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09490" y="4315968"/>
            <a:ext cx="297271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 latinLnBrk="0">
              <a:lnSpc>
                <a:spcPct val="105000"/>
              </a:lnSpc>
            </a:pPr>
            <a:r>
              <a:rPr sz="2200" b="1" spc="-50">
                <a:solidFill>
                  <a:srgbClr val="1D1D1F"/>
                </a:solidFill>
                <a:latin typeface="Noto Sans KR"/>
                <a:ea typeface="Noto Sans KR"/>
                <a:cs typeface="Noto Sans KR"/>
              </a:rPr>
              <a:t>호수길133 카페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09490" y="4791456"/>
            <a:ext cx="2972714" cy="8229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 latinLnBrk="0">
              <a:lnSpc>
                <a:spcPct val="140000"/>
              </a:lnSpc>
            </a:pPr>
            <a:r>
              <a:rPr sz="1400" b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예능 촬영지로 화제가 된 정원 카페.</a:t>
            </a:r>
            <a:br>
              <a:rPr sz="1400"/>
            </a:br>
            <a:r>
              <a:rPr sz="1400" b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분위기는 최고, 가격대는 조금 있는</a:t>
            </a:r>
            <a:br>
              <a:rPr sz="1400"/>
            </a:br>
            <a:r>
              <a:rPr sz="1400" b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편이에요.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09490" y="5824728"/>
            <a:ext cx="297271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 latinLnBrk="0">
              <a:lnSpc>
                <a:spcPct val="110000"/>
              </a:lnSpc>
            </a:pPr>
            <a:r>
              <a:rPr sz="1100" b="0">
                <a:solidFill>
                  <a:srgbClr val="7A7A7A"/>
                </a:solidFill>
                <a:latin typeface="Noto Sans KR"/>
                <a:ea typeface="Noto Sans KR"/>
                <a:cs typeface="Noto Sans KR"/>
              </a:rPr>
              <a:t>횡성군 우천면 전재호수길 149</a:t>
            </a:r>
          </a:p>
        </p:txBody>
      </p:sp>
      <p:sp>
        <p:nvSpPr>
          <p:cNvPr id="24" name="TextBox 23">
            <a:hlinkClick r:id="rId5"/>
          </p:cNvPr>
          <p:cNvSpPr txBox="1"/>
          <p:nvPr/>
        </p:nvSpPr>
        <p:spPr>
          <a:xfrm>
            <a:off x="4609490" y="6080760"/>
            <a:ext cx="297271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 latinLnBrk="0">
              <a:lnSpc>
                <a:spcPct val="100000"/>
              </a:lnSpc>
            </a:pPr>
            <a:r>
              <a:rPr sz="1400" b="0">
                <a:solidFill>
                  <a:srgbClr val="0066CC"/>
                </a:solidFill>
                <a:latin typeface="Noto Sans KR"/>
                <a:ea typeface="Noto Sans KR"/>
                <a:cs typeface="Noto Sans KR"/>
              </a:rPr>
              <a:t>지도 보기 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66836" y="2194560"/>
            <a:ext cx="3484778" cy="4343400"/>
          </a:xfrm>
          <a:prstGeom prst="roundRect">
            <a:avLst>
              <a:gd name="adj" fmla="val 4723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코티지생운 외관"/>
          <p:cNvPicPr>
            <a:picLocks noChangeAspect="1"/>
          </p:cNvPicPr>
          <p:nvPr/>
        </p:nvPicPr>
        <p:blipFill>
          <a:blip r:embed="rId6"/>
          <a:srcRect t="27941" b="45588"/>
          <a:stretch>
            <a:fillRect/>
          </a:stretch>
        </p:blipFill>
        <p:spPr>
          <a:xfrm>
            <a:off x="8176564" y="2304288"/>
            <a:ext cx="3265322" cy="1536192"/>
          </a:xfrm>
          <a:prstGeom prst="roundRect">
            <a:avLst>
              <a:gd name="adj" fmla="val 7142"/>
            </a:avLst>
          </a:prstGeom>
        </p:spPr>
      </p:pic>
      <p:sp>
        <p:nvSpPr>
          <p:cNvPr id="27" name="Rounded Rectangle 26"/>
          <p:cNvSpPr/>
          <p:nvPr/>
        </p:nvSpPr>
        <p:spPr>
          <a:xfrm>
            <a:off x="8322868" y="3383280"/>
            <a:ext cx="1043686" cy="310896"/>
          </a:xfrm>
          <a:prstGeom prst="roundRect">
            <a:avLst>
              <a:gd name="adj" fmla="val 50000"/>
            </a:avLst>
          </a:prstGeom>
          <a:solidFill>
            <a:srgbClr val="E3E3E8">
              <a:alpha val="8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22868" y="3383280"/>
            <a:ext cx="104368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eaLnBrk="0" latinLnBrk="0">
              <a:lnSpc>
                <a:spcPct val="100000"/>
              </a:lnSpc>
            </a:pPr>
            <a:r>
              <a:rPr sz="1200" b="1">
                <a:solidFill>
                  <a:srgbClr val="1D1D1F"/>
                </a:solidFill>
                <a:latin typeface="Noto Sans KR"/>
                <a:ea typeface="Noto Sans KR"/>
                <a:cs typeface="Noto Sans KR"/>
              </a:rPr>
              <a:t>코티지 외관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2868" y="4041648"/>
            <a:ext cx="297271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 latinLnBrk="0">
              <a:lnSpc>
                <a:spcPct val="100000"/>
              </a:lnSpc>
            </a:pPr>
            <a:r>
              <a:rPr sz="1100" b="1" spc="40">
                <a:solidFill>
                  <a:srgbClr val="0066CC"/>
                </a:solidFill>
                <a:latin typeface="Noto Sans KR"/>
                <a:ea typeface="Noto Sans KR"/>
                <a:cs typeface="Noto Sans KR"/>
              </a:rPr>
              <a:t>핸드드립 맛집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2868" y="4315968"/>
            <a:ext cx="297271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 latinLnBrk="0">
              <a:lnSpc>
                <a:spcPct val="105000"/>
              </a:lnSpc>
            </a:pPr>
            <a:r>
              <a:rPr sz="2200" b="1" spc="-50">
                <a:solidFill>
                  <a:srgbClr val="1D1D1F"/>
                </a:solidFill>
                <a:latin typeface="Noto Sans KR"/>
                <a:ea typeface="Noto Sans KR"/>
                <a:cs typeface="Noto Sans KR"/>
              </a:rPr>
              <a:t>코티지생운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2868" y="4791456"/>
            <a:ext cx="297271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 latinLnBrk="0">
              <a:lnSpc>
                <a:spcPct val="140000"/>
              </a:lnSpc>
            </a:pPr>
            <a:r>
              <a:rPr sz="1400" b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붉은 벽돌 현관이 예쁜 작은 집. 가성비</a:t>
            </a:r>
            <a:br>
              <a:rPr sz="1400"/>
            </a:br>
            <a:r>
              <a:rPr sz="1400" b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좋은 핸드드립 커피로 유명해요.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2868" y="5824728"/>
            <a:ext cx="297271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 latinLnBrk="0">
              <a:lnSpc>
                <a:spcPct val="110000"/>
              </a:lnSpc>
            </a:pPr>
            <a:r>
              <a:rPr sz="1100" b="0">
                <a:solidFill>
                  <a:srgbClr val="7A7A7A"/>
                </a:solidFill>
                <a:latin typeface="Noto Sans KR"/>
                <a:ea typeface="Noto Sans KR"/>
                <a:cs typeface="Noto Sans KR"/>
              </a:rPr>
              <a:t>횡성군 횡성읍 덕고로535번길 26-10</a:t>
            </a:r>
          </a:p>
        </p:txBody>
      </p:sp>
      <p:sp>
        <p:nvSpPr>
          <p:cNvPr id="33" name="TextBox 32">
            <a:hlinkClick r:id="rId7"/>
          </p:cNvPr>
          <p:cNvSpPr txBox="1"/>
          <p:nvPr/>
        </p:nvSpPr>
        <p:spPr>
          <a:xfrm>
            <a:off x="8322868" y="6080760"/>
            <a:ext cx="297271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 latinLnBrk="0">
              <a:lnSpc>
                <a:spcPct val="100000"/>
              </a:lnSpc>
            </a:pPr>
            <a:r>
              <a:rPr sz="1400" b="0">
                <a:solidFill>
                  <a:srgbClr val="0066CC"/>
                </a:solidFill>
                <a:latin typeface="Noto Sans KR"/>
                <a:ea typeface="Noto Sans KR"/>
                <a:cs typeface="Noto Sans KR"/>
              </a:rPr>
              <a:t>지도 보기 ›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호숫길펜션 낮 시간 야외 테라스"/>
          <p:cNvPicPr>
            <a:picLocks noChangeAspect="1"/>
          </p:cNvPicPr>
          <p:nvPr/>
        </p:nvPicPr>
        <p:blipFill>
          <a:blip r:embed="rId2"/>
          <a:srcRect l="27018" r="27018"/>
          <a:stretch>
            <a:fillRect/>
          </a:stretch>
        </p:blipFill>
        <p:spPr>
          <a:xfrm>
            <a:off x="640080" y="548640"/>
            <a:ext cx="3530498" cy="5760720"/>
          </a:xfrm>
          <a:prstGeom prst="roundRect">
            <a:avLst>
              <a:gd name="adj" fmla="val 4662"/>
            </a:avLst>
          </a:prstGeom>
        </p:spPr>
      </p:pic>
      <p:sp>
        <p:nvSpPr>
          <p:cNvPr id="3" name="Rounded Rectangle 2"/>
          <p:cNvSpPr/>
          <p:nvPr/>
        </p:nvSpPr>
        <p:spPr>
          <a:xfrm>
            <a:off x="786384" y="5852159"/>
            <a:ext cx="1043686" cy="310896"/>
          </a:xfrm>
          <a:prstGeom prst="roundRect">
            <a:avLst>
              <a:gd name="adj" fmla="val 50000"/>
            </a:avLst>
          </a:prstGeom>
          <a:solidFill>
            <a:srgbClr val="E3E3E8">
              <a:alpha val="8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5852159"/>
            <a:ext cx="104368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eaLnBrk="0" latinLnBrk="0">
              <a:lnSpc>
                <a:spcPct val="100000"/>
              </a:lnSpc>
            </a:pPr>
            <a:r>
              <a:rPr sz="1200" b="1">
                <a:solidFill>
                  <a:srgbClr val="1D1D1F"/>
                </a:solidFill>
                <a:latin typeface="Noto Sans KR"/>
                <a:ea typeface="Noto Sans KR"/>
                <a:cs typeface="Noto Sans KR"/>
              </a:rPr>
              <a:t>야외 테라스</a:t>
            </a:r>
          </a:p>
        </p:txBody>
      </p:sp>
      <p:pic>
        <p:nvPicPr>
          <p:cNvPr id="5" name="Picture 4" descr="호숫길펜션 야간 전경"/>
          <p:cNvPicPr>
            <a:picLocks noChangeAspect="1"/>
          </p:cNvPicPr>
          <p:nvPr/>
        </p:nvPicPr>
        <p:blipFill>
          <a:blip r:embed="rId3"/>
          <a:srcRect l="18216" r="18216"/>
          <a:stretch>
            <a:fillRect/>
          </a:stretch>
        </p:blipFill>
        <p:spPr>
          <a:xfrm>
            <a:off x="4280306" y="548640"/>
            <a:ext cx="2394813" cy="2825496"/>
          </a:xfrm>
          <a:prstGeom prst="roundRect">
            <a:avLst>
              <a:gd name="adj" fmla="val 6872"/>
            </a:avLst>
          </a:prstGeom>
        </p:spPr>
      </p:pic>
      <p:sp>
        <p:nvSpPr>
          <p:cNvPr id="6" name="Rounded Rectangle 5"/>
          <p:cNvSpPr/>
          <p:nvPr/>
        </p:nvSpPr>
        <p:spPr>
          <a:xfrm>
            <a:off x="4408322" y="2935224"/>
            <a:ext cx="903986" cy="310896"/>
          </a:xfrm>
          <a:prstGeom prst="roundRect">
            <a:avLst>
              <a:gd name="adj" fmla="val 50000"/>
            </a:avLst>
          </a:prstGeom>
          <a:solidFill>
            <a:srgbClr val="E3E3E8">
              <a:alpha val="8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08322" y="2935224"/>
            <a:ext cx="90398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eaLnBrk="0" latinLnBrk="0">
              <a:lnSpc>
                <a:spcPct val="100000"/>
              </a:lnSpc>
            </a:pPr>
            <a:r>
              <a:rPr sz="1200" b="1">
                <a:solidFill>
                  <a:srgbClr val="1D1D1F"/>
                </a:solidFill>
                <a:latin typeface="Noto Sans KR"/>
                <a:ea typeface="Noto Sans KR"/>
                <a:cs typeface="Noto Sans KR"/>
              </a:rPr>
              <a:t>밤의 펜션</a:t>
            </a:r>
          </a:p>
        </p:txBody>
      </p:sp>
      <p:pic>
        <p:nvPicPr>
          <p:cNvPr id="8" name="Picture 7" descr="호숫길펜션 객실 내부"/>
          <p:cNvPicPr>
            <a:picLocks noChangeAspect="1"/>
          </p:cNvPicPr>
          <p:nvPr/>
        </p:nvPicPr>
        <p:blipFill>
          <a:blip r:embed="rId4"/>
          <a:srcRect t="5756" b="5756"/>
          <a:stretch>
            <a:fillRect/>
          </a:stretch>
        </p:blipFill>
        <p:spPr>
          <a:xfrm>
            <a:off x="4280306" y="3483864"/>
            <a:ext cx="2394813" cy="2825496"/>
          </a:xfrm>
          <a:prstGeom prst="roundRect">
            <a:avLst>
              <a:gd name="adj" fmla="val 6872"/>
            </a:avLst>
          </a:prstGeom>
        </p:spPr>
      </p:pic>
      <p:sp>
        <p:nvSpPr>
          <p:cNvPr id="9" name="Rounded Rectangle 8"/>
          <p:cNvSpPr/>
          <p:nvPr/>
        </p:nvSpPr>
        <p:spPr>
          <a:xfrm>
            <a:off x="4408322" y="5870448"/>
            <a:ext cx="903986" cy="310896"/>
          </a:xfrm>
          <a:prstGeom prst="roundRect">
            <a:avLst>
              <a:gd name="adj" fmla="val 50000"/>
            </a:avLst>
          </a:prstGeom>
          <a:solidFill>
            <a:srgbClr val="E3E3E8">
              <a:alpha val="8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08322" y="5870448"/>
            <a:ext cx="90398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eaLnBrk="0" latinLnBrk="0">
              <a:lnSpc>
                <a:spcPct val="100000"/>
              </a:lnSpc>
            </a:pPr>
            <a:r>
              <a:rPr sz="1200" b="1">
                <a:solidFill>
                  <a:srgbClr val="1D1D1F"/>
                </a:solidFill>
                <a:latin typeface="Noto Sans KR"/>
                <a:ea typeface="Noto Sans KR"/>
                <a:cs typeface="Noto Sans KR"/>
              </a:rPr>
              <a:t>객실 내부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86600" y="731520"/>
            <a:ext cx="44622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 latinLnBrk="0">
              <a:lnSpc>
                <a:spcPct val="125000"/>
              </a:lnSpc>
            </a:pPr>
            <a:r>
              <a:rPr sz="1300" b="1" spc="40">
                <a:solidFill>
                  <a:srgbClr val="1D1D1F"/>
                </a:solidFill>
                <a:latin typeface="Noto Sans KR"/>
                <a:ea typeface="Noto Sans KR"/>
                <a:cs typeface="Noto Sans KR"/>
              </a:rPr>
              <a:t>17:30 – 18:00</a:t>
            </a:r>
            <a:r>
              <a:rPr sz="1300" b="1" spc="40">
                <a:solidFill>
                  <a:srgbClr val="7A7A7A"/>
                </a:solidFill>
                <a:latin typeface="Noto Sans KR"/>
                <a:ea typeface="Noto Sans KR"/>
                <a:cs typeface="Noto Sans KR"/>
              </a:rPr>
              <a:t>   CHECK-IN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6600" y="1188720"/>
            <a:ext cx="4462272" cy="5095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 latinLnBrk="0">
              <a:lnSpc>
                <a:spcPct val="110000"/>
              </a:lnSpc>
            </a:pPr>
            <a:r>
              <a:rPr sz="3400" b="1" spc="-80">
                <a:solidFill>
                  <a:srgbClr val="1D1D1F"/>
                </a:solidFill>
                <a:latin typeface="Noto Sans KR"/>
                <a:ea typeface="Noto Sans KR"/>
                <a:cs typeface="Noto Sans KR"/>
              </a:rPr>
              <a:t>호숫길펜션 구방리518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86600" y="1926844"/>
            <a:ext cx="4462272" cy="647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 latinLnBrk="0">
              <a:lnSpc>
                <a:spcPct val="145000"/>
              </a:lnSpc>
            </a:pPr>
            <a:r>
              <a:rPr sz="1700" b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오늘 밤의 베이스캠프. 짐 풀고 숨 고르고, 저녁</a:t>
            </a:r>
            <a:br>
              <a:rPr sz="1700"/>
            </a:br>
            <a:r>
              <a:rPr sz="1700" b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준비를 시작해요.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86600" y="2848864"/>
            <a:ext cx="2755900" cy="384048"/>
          </a:xfrm>
          <a:prstGeom prst="roundRect">
            <a:avLst>
              <a:gd name="adj" fmla="val 41666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69480" y="2848864"/>
            <a:ext cx="24358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eaLnBrk="0" latinLnBrk="0">
              <a:lnSpc>
                <a:spcPct val="115000"/>
              </a:lnSpc>
            </a:pPr>
            <a:r>
              <a:rPr sz="1100" b="1">
                <a:solidFill>
                  <a:srgbClr val="0066CC"/>
                </a:solidFill>
                <a:latin typeface="Noto Sans KR"/>
                <a:ea typeface="Noto Sans KR"/>
                <a:cs typeface="Noto Sans KR"/>
              </a:rPr>
              <a:t>HEAL POINT  </a:t>
            </a:r>
            <a:r>
              <a:rPr sz="1300" b="1">
                <a:solidFill>
                  <a:srgbClr val="1D1D1F"/>
                </a:solidFill>
                <a:latin typeface="Noto Sans KR"/>
                <a:ea typeface="Noto Sans KR"/>
                <a:cs typeface="Noto Sans KR"/>
              </a:rPr>
              <a:t>짐 풀고, 숨 고르기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086600" y="4105656"/>
            <a:ext cx="4462272" cy="9144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86600" y="4160520"/>
            <a:ext cx="868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 latinLnBrk="0">
              <a:lnSpc>
                <a:spcPct val="100000"/>
              </a:lnSpc>
            </a:pPr>
            <a:r>
              <a:rPr sz="1100" b="1" spc="40">
                <a:solidFill>
                  <a:srgbClr val="7A7A7A"/>
                </a:solidFill>
                <a:latin typeface="Noto Sans KR"/>
                <a:ea typeface="Noto Sans KR"/>
                <a:cs typeface="Noto Sans KR"/>
              </a:rPr>
              <a:t>객실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01000" y="4151376"/>
            <a:ext cx="354787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 latinLnBrk="0">
              <a:lnSpc>
                <a:spcPct val="115000"/>
              </a:lnSpc>
            </a:pPr>
            <a:r>
              <a:rPr sz="1400" b="0">
                <a:solidFill>
                  <a:srgbClr val="1D1D1F"/>
                </a:solidFill>
                <a:latin typeface="Noto Sans KR"/>
                <a:ea typeface="Noto Sans KR"/>
                <a:cs typeface="Noto Sans KR"/>
              </a:rPr>
              <a:t>한과동 · 더덕동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086600" y="4608576"/>
            <a:ext cx="4462272" cy="9144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86600" y="4663440"/>
            <a:ext cx="868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 latinLnBrk="0">
              <a:lnSpc>
                <a:spcPct val="100000"/>
              </a:lnSpc>
            </a:pPr>
            <a:r>
              <a:rPr sz="1100" b="1" spc="40">
                <a:solidFill>
                  <a:srgbClr val="7A7A7A"/>
                </a:solidFill>
                <a:latin typeface="Noto Sans KR"/>
                <a:ea typeface="Noto Sans KR"/>
                <a:cs typeface="Noto Sans KR"/>
              </a:rPr>
              <a:t>주소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01000" y="4654296"/>
            <a:ext cx="354787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 latinLnBrk="0">
              <a:lnSpc>
                <a:spcPct val="115000"/>
              </a:lnSpc>
            </a:pPr>
            <a:r>
              <a:rPr sz="1400" b="0">
                <a:solidFill>
                  <a:srgbClr val="1D1D1F"/>
                </a:solidFill>
                <a:latin typeface="Noto Sans KR"/>
                <a:ea typeface="Noto Sans KR"/>
                <a:cs typeface="Noto Sans KR"/>
              </a:rPr>
              <a:t>횡성군 갑천면 태기로구방5길 23-12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086600" y="5111496"/>
            <a:ext cx="4462272" cy="9144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86600" y="5166360"/>
            <a:ext cx="868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 latinLnBrk="0">
              <a:lnSpc>
                <a:spcPct val="100000"/>
              </a:lnSpc>
            </a:pPr>
            <a:r>
              <a:rPr sz="1100" b="1" spc="40">
                <a:solidFill>
                  <a:srgbClr val="7A7A7A"/>
                </a:solidFill>
                <a:latin typeface="Noto Sans KR"/>
                <a:ea typeface="Noto Sans KR"/>
                <a:cs typeface="Noto Sans KR"/>
              </a:rPr>
              <a:t>체크인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01000" y="5157216"/>
            <a:ext cx="354787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 latinLnBrk="0">
              <a:lnSpc>
                <a:spcPct val="115000"/>
              </a:lnSpc>
            </a:pPr>
            <a:r>
              <a:rPr sz="1400" b="0">
                <a:solidFill>
                  <a:srgbClr val="1D1D1F"/>
                </a:solidFill>
                <a:latin typeface="Noto Sans KR"/>
                <a:ea typeface="Noto Sans KR"/>
                <a:cs typeface="Noto Sans KR"/>
              </a:rPr>
              <a:t>오후 3시부터 (정비 17:30 – 18:00)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086600" y="5614416"/>
            <a:ext cx="4462272" cy="9144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86600" y="5669280"/>
            <a:ext cx="868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 latinLnBrk="0">
              <a:lnSpc>
                <a:spcPct val="100000"/>
              </a:lnSpc>
            </a:pPr>
            <a:r>
              <a:rPr sz="1100" b="1" spc="40">
                <a:solidFill>
                  <a:srgbClr val="7A7A7A"/>
                </a:solidFill>
                <a:latin typeface="Noto Sans KR"/>
                <a:ea typeface="Noto Sans KR"/>
                <a:cs typeface="Noto Sans KR"/>
              </a:rPr>
              <a:t>지도</a:t>
            </a:r>
          </a:p>
        </p:txBody>
      </p:sp>
      <p:sp>
        <p:nvSpPr>
          <p:cNvPr id="27" name="TextBox 26">
            <a:hlinkClick r:id="rId5"/>
          </p:cNvPr>
          <p:cNvSpPr txBox="1"/>
          <p:nvPr/>
        </p:nvSpPr>
        <p:spPr>
          <a:xfrm>
            <a:off x="8001000" y="5660136"/>
            <a:ext cx="354787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 latinLnBrk="0">
              <a:lnSpc>
                <a:spcPct val="115000"/>
              </a:lnSpc>
            </a:pPr>
            <a:r>
              <a:rPr sz="1400" b="0">
                <a:solidFill>
                  <a:srgbClr val="0066CC"/>
                </a:solidFill>
                <a:latin typeface="Noto Sans KR"/>
                <a:ea typeface="Noto Sans KR"/>
                <a:cs typeface="Noto Sans KR"/>
              </a:rPr>
              <a:t>네이버지도에서 보기 ›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727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48640"/>
            <a:ext cx="121916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eaLnBrk="0" latinLnBrk="0">
              <a:lnSpc>
                <a:spcPct val="125000"/>
              </a:lnSpc>
            </a:pPr>
            <a:r>
              <a:rPr sz="1300" b="1" spc="4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18:00 – 24:00</a:t>
            </a:r>
            <a:r>
              <a:rPr sz="1300" b="1" spc="40">
                <a:solidFill>
                  <a:srgbClr val="CCCCCC"/>
                </a:solidFill>
                <a:latin typeface="Noto Sans KR"/>
                <a:ea typeface="Noto Sans KR"/>
                <a:cs typeface="Noto Sans KR"/>
              </a:rPr>
              <a:t>   NIGHT AT THE PENSION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914400"/>
            <a:ext cx="1219169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eaLnBrk="0" latinLnBrk="0">
              <a:lnSpc>
                <a:spcPct val="110000"/>
              </a:lnSpc>
            </a:pPr>
            <a:r>
              <a:rPr sz="4000" b="1" spc="-8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바베큐, 레크, 그리고 불멍.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691640"/>
            <a:ext cx="121916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eaLnBrk="0" latinLnBrk="0">
              <a:lnSpc>
                <a:spcPct val="125000"/>
              </a:lnSpc>
            </a:pPr>
            <a:r>
              <a:rPr sz="1700" b="0">
                <a:solidFill>
                  <a:srgbClr val="CCCCCC"/>
                </a:solidFill>
                <a:latin typeface="Noto Sans KR"/>
                <a:ea typeface="Noto Sans KR"/>
                <a:cs typeface="Noto Sans KR"/>
              </a:rPr>
              <a:t>오늘의 하이라이트는 숙소에서. 먹고, 웃고, 마지막엔 불 앞에 둘러앉아 밤새 수다 떨어요.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331720"/>
            <a:ext cx="3484778" cy="4069080"/>
          </a:xfrm>
          <a:prstGeom prst="roundRect">
            <a:avLst>
              <a:gd name="adj" fmla="val 4723"/>
            </a:avLst>
          </a:prstGeom>
          <a:solidFill>
            <a:srgbClr val="2A2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353458" y="2331720"/>
            <a:ext cx="3484778" cy="4069080"/>
          </a:xfrm>
          <a:prstGeom prst="roundRect">
            <a:avLst>
              <a:gd name="adj" fmla="val 4723"/>
            </a:avLst>
          </a:prstGeom>
          <a:solidFill>
            <a:srgbClr val="2A2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066836" y="2331720"/>
            <a:ext cx="3484778" cy="4069080"/>
          </a:xfrm>
          <a:prstGeom prst="roundRect">
            <a:avLst>
              <a:gd name="adj" fmla="val 4723"/>
            </a:avLst>
          </a:prstGeom>
          <a:solidFill>
            <a:srgbClr val="2A2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펜션 야외 테라스의 텐트 공간"/>
          <p:cNvPicPr>
            <a:picLocks noChangeAspect="1"/>
          </p:cNvPicPr>
          <p:nvPr/>
        </p:nvPicPr>
        <p:blipFill>
          <a:blip r:embed="rId2"/>
          <a:srcRect t="11515" b="11515"/>
          <a:stretch>
            <a:fillRect/>
          </a:stretch>
        </p:blipFill>
        <p:spPr>
          <a:xfrm>
            <a:off x="640080" y="2331720"/>
            <a:ext cx="3484778" cy="2011680"/>
          </a:xfrm>
          <a:prstGeom prst="roundRect">
            <a:avLst>
              <a:gd name="adj" fmla="val 8181"/>
            </a:avLst>
          </a:prstGeom>
        </p:spPr>
      </p:pic>
      <p:sp>
        <p:nvSpPr>
          <p:cNvPr id="9" name="Rounded Rectangle 8"/>
          <p:cNvSpPr/>
          <p:nvPr/>
        </p:nvSpPr>
        <p:spPr>
          <a:xfrm>
            <a:off x="786384" y="3886200"/>
            <a:ext cx="1043686" cy="310896"/>
          </a:xfrm>
          <a:prstGeom prst="roundRect">
            <a:avLst>
              <a:gd name="adj" fmla="val 50000"/>
            </a:avLst>
          </a:prstGeom>
          <a:solidFill>
            <a:srgbClr val="E3E3E8">
              <a:alpha val="8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3886200"/>
            <a:ext cx="104368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eaLnBrk="0" latinLnBrk="0">
              <a:lnSpc>
                <a:spcPct val="100000"/>
              </a:lnSpc>
            </a:pPr>
            <a:r>
              <a:rPr sz="1200" b="1">
                <a:solidFill>
                  <a:srgbClr val="1D1D1F"/>
                </a:solidFill>
                <a:latin typeface="Noto Sans KR"/>
                <a:ea typeface="Noto Sans KR"/>
                <a:cs typeface="Noto Sans KR"/>
              </a:rPr>
              <a:t>야외 테라스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4544568"/>
            <a:ext cx="297271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 latinLnBrk="0">
              <a:lnSpc>
                <a:spcPct val="100000"/>
              </a:lnSpc>
            </a:pPr>
            <a:r>
              <a:rPr sz="1200" b="1" spc="40">
                <a:solidFill>
                  <a:srgbClr val="2997FF"/>
                </a:solidFill>
                <a:latin typeface="Noto Sans KR"/>
                <a:ea typeface="Noto Sans KR"/>
                <a:cs typeface="Noto Sans KR"/>
              </a:rPr>
              <a:t>18:00 – 20:00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4818888"/>
            <a:ext cx="297271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 latinLnBrk="0">
              <a:lnSpc>
                <a:spcPct val="105000"/>
              </a:lnSpc>
            </a:pPr>
            <a:r>
              <a:rPr sz="2400" b="1" spc="-5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바베큐 디너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5349240"/>
            <a:ext cx="2972714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 latinLnBrk="0">
              <a:lnSpc>
                <a:spcPct val="140000"/>
              </a:lnSpc>
            </a:pPr>
            <a:r>
              <a:rPr sz="1400" b="0">
                <a:solidFill>
                  <a:srgbClr val="CCCCCC"/>
                </a:solidFill>
                <a:latin typeface="Noto Sans KR"/>
                <a:ea typeface="Noto Sans KR"/>
                <a:cs typeface="Noto Sans KR"/>
              </a:rPr>
              <a:t>오후에 직접 고른 재료로 숙소 바베큐.</a:t>
            </a:r>
            <a:br>
              <a:rPr sz="1400"/>
            </a:br>
            <a:r>
              <a:rPr sz="1400" b="0">
                <a:solidFill>
                  <a:srgbClr val="CCCCCC"/>
                </a:solidFill>
                <a:latin typeface="Noto Sans KR"/>
                <a:ea typeface="Noto Sans KR"/>
                <a:cs typeface="Noto Sans KR"/>
              </a:rPr>
              <a:t>굽는 사람 따로, 먹는 사람 따로 없이</a:t>
            </a:r>
            <a:br>
              <a:rPr sz="1400"/>
            </a:br>
            <a:r>
              <a:rPr sz="1400" b="0">
                <a:solidFill>
                  <a:srgbClr val="CCCCCC"/>
                </a:solidFill>
                <a:latin typeface="Noto Sans KR"/>
                <a:ea typeface="Noto Sans KR"/>
                <a:cs typeface="Noto Sans KR"/>
              </a:rPr>
              <a:t>같이.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09490" y="2624327"/>
            <a:ext cx="297271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 latinLnBrk="0">
              <a:lnSpc>
                <a:spcPct val="100000"/>
              </a:lnSpc>
            </a:pPr>
            <a:r>
              <a:rPr sz="1200" b="1" spc="40">
                <a:solidFill>
                  <a:srgbClr val="2997FF"/>
                </a:solidFill>
                <a:latin typeface="Noto Sans KR"/>
                <a:ea typeface="Noto Sans KR"/>
                <a:cs typeface="Noto Sans KR"/>
              </a:rPr>
              <a:t>20:00 – 22:30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09490" y="2898647"/>
            <a:ext cx="297271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 latinLnBrk="0">
              <a:lnSpc>
                <a:spcPct val="105000"/>
              </a:lnSpc>
            </a:pPr>
            <a:r>
              <a:rPr sz="2400" b="1" spc="-5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레크리에이션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09490" y="3429000"/>
            <a:ext cx="297271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 latinLnBrk="0">
              <a:lnSpc>
                <a:spcPct val="140000"/>
              </a:lnSpc>
            </a:pPr>
            <a:r>
              <a:rPr sz="1400" b="0">
                <a:solidFill>
                  <a:srgbClr val="CCCCCC"/>
                </a:solidFill>
                <a:latin typeface="Noto Sans KR"/>
                <a:ea typeface="Noto Sans KR"/>
                <a:cs typeface="Noto Sans KR"/>
              </a:rPr>
              <a:t>이기는 팀보다 웃는 팀이 많은 밤.</a:t>
            </a:r>
            <a:br>
              <a:rPr sz="1400"/>
            </a:br>
            <a:r>
              <a:rPr sz="1400" b="0">
                <a:solidFill>
                  <a:srgbClr val="CCCCCC"/>
                </a:solidFill>
                <a:latin typeface="Noto Sans KR"/>
                <a:ea typeface="Noto Sans KR"/>
                <a:cs typeface="Noto Sans KR"/>
              </a:rPr>
              <a:t>프로그램은 이렇게 진행돼요.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09490" y="4160520"/>
            <a:ext cx="2972714" cy="9144"/>
          </a:xfrm>
          <a:prstGeom prst="rect">
            <a:avLst/>
          </a:prstGeom>
          <a:solidFill>
            <a:srgbClr val="4A4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09490" y="4288536"/>
            <a:ext cx="202173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 latinLnBrk="0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마니또 선물 전달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3796" y="4306824"/>
            <a:ext cx="97840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eaLnBrk="0" latinLnBrk="0">
              <a:lnSpc>
                <a:spcPct val="100000"/>
              </a:lnSpc>
            </a:pPr>
            <a:r>
              <a:rPr sz="1300" b="0">
                <a:solidFill>
                  <a:srgbClr val="CCCCCC"/>
                </a:solidFill>
                <a:latin typeface="Noto Sans KR"/>
                <a:ea typeface="Noto Sans KR"/>
                <a:cs typeface="Noto Sans KR"/>
              </a:rPr>
              <a:t>15분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09490" y="4690872"/>
            <a:ext cx="2972714" cy="9144"/>
          </a:xfrm>
          <a:prstGeom prst="rect">
            <a:avLst/>
          </a:prstGeom>
          <a:solidFill>
            <a:srgbClr val="4A4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09490" y="4818888"/>
            <a:ext cx="202173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 latinLnBrk="0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개인전 퀴즈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3796" y="4837176"/>
            <a:ext cx="97840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eaLnBrk="0" latinLnBrk="0">
              <a:lnSpc>
                <a:spcPct val="100000"/>
              </a:lnSpc>
            </a:pPr>
            <a:r>
              <a:rPr sz="1300" b="0">
                <a:solidFill>
                  <a:srgbClr val="CCCCCC"/>
                </a:solidFill>
                <a:latin typeface="Noto Sans KR"/>
                <a:ea typeface="Noto Sans KR"/>
                <a:cs typeface="Noto Sans KR"/>
              </a:rPr>
              <a:t>30분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609490" y="5221224"/>
            <a:ext cx="2972714" cy="9144"/>
          </a:xfrm>
          <a:prstGeom prst="rect">
            <a:avLst/>
          </a:prstGeom>
          <a:solidFill>
            <a:srgbClr val="4A4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09490" y="5349240"/>
            <a:ext cx="202173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 latinLnBrk="0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팀전 게임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03796" y="5367528"/>
            <a:ext cx="97840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eaLnBrk="0" latinLnBrk="0">
              <a:lnSpc>
                <a:spcPct val="100000"/>
              </a:lnSpc>
            </a:pPr>
            <a:r>
              <a:rPr sz="1300" b="0">
                <a:solidFill>
                  <a:srgbClr val="CCCCCC"/>
                </a:solidFill>
                <a:latin typeface="Noto Sans KR"/>
                <a:ea typeface="Noto Sans KR"/>
                <a:cs typeface="Noto Sans KR"/>
              </a:rPr>
              <a:t>45분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09490" y="5751575"/>
            <a:ext cx="2972714" cy="9144"/>
          </a:xfrm>
          <a:prstGeom prst="rect">
            <a:avLst/>
          </a:prstGeom>
          <a:solidFill>
            <a:srgbClr val="4A4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09490" y="5879591"/>
            <a:ext cx="202173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 latinLnBrk="0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보드게임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03796" y="5897879"/>
            <a:ext cx="97840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eaLnBrk="0" latinLnBrk="0">
              <a:lnSpc>
                <a:spcPct val="100000"/>
              </a:lnSpc>
            </a:pPr>
            <a:r>
              <a:rPr sz="1300" b="0">
                <a:solidFill>
                  <a:srgbClr val="CCCCCC"/>
                </a:solidFill>
                <a:latin typeface="Noto Sans KR"/>
                <a:ea typeface="Noto Sans KR"/>
                <a:cs typeface="Noto Sans KR"/>
              </a:rPr>
              <a:t>60분</a:t>
            </a:r>
          </a:p>
        </p:txBody>
      </p:sp>
      <p:pic>
        <p:nvPicPr>
          <p:cNvPr id="29" name="Picture 28" descr="펜션 마당의 불멍 화로"/>
          <p:cNvPicPr>
            <a:picLocks noChangeAspect="1"/>
          </p:cNvPicPr>
          <p:nvPr/>
        </p:nvPicPr>
        <p:blipFill>
          <a:blip r:embed="rId3"/>
          <a:srcRect t="37173" b="30414"/>
          <a:stretch>
            <a:fillRect/>
          </a:stretch>
        </p:blipFill>
        <p:spPr>
          <a:xfrm>
            <a:off x="8066836" y="2331720"/>
            <a:ext cx="3484778" cy="2011680"/>
          </a:xfrm>
          <a:prstGeom prst="roundRect">
            <a:avLst>
              <a:gd name="adj" fmla="val 8181"/>
            </a:avLst>
          </a:prstGeom>
        </p:spPr>
      </p:pic>
      <p:sp>
        <p:nvSpPr>
          <p:cNvPr id="30" name="Rounded Rectangle 29"/>
          <p:cNvSpPr/>
          <p:nvPr/>
        </p:nvSpPr>
        <p:spPr>
          <a:xfrm>
            <a:off x="8213140" y="3886200"/>
            <a:ext cx="590296" cy="310896"/>
          </a:xfrm>
          <a:prstGeom prst="roundRect">
            <a:avLst>
              <a:gd name="adj" fmla="val 50000"/>
            </a:avLst>
          </a:prstGeom>
          <a:solidFill>
            <a:srgbClr val="E3E3E8">
              <a:alpha val="8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13140" y="3886200"/>
            <a:ext cx="5902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eaLnBrk="0" latinLnBrk="0">
              <a:lnSpc>
                <a:spcPct val="100000"/>
              </a:lnSpc>
            </a:pPr>
            <a:r>
              <a:rPr sz="1200" b="1">
                <a:solidFill>
                  <a:srgbClr val="1D1D1F"/>
                </a:solidFill>
                <a:latin typeface="Noto Sans KR"/>
                <a:ea typeface="Noto Sans KR"/>
                <a:cs typeface="Noto Sans KR"/>
              </a:rPr>
              <a:t>불멍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2868" y="4544568"/>
            <a:ext cx="297271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 latinLnBrk="0">
              <a:lnSpc>
                <a:spcPct val="100000"/>
              </a:lnSpc>
            </a:pPr>
            <a:r>
              <a:rPr sz="1200" b="1" spc="40">
                <a:solidFill>
                  <a:srgbClr val="2997FF"/>
                </a:solidFill>
                <a:latin typeface="Noto Sans KR"/>
                <a:ea typeface="Noto Sans KR"/>
                <a:cs typeface="Noto Sans KR"/>
              </a:rPr>
              <a:t>22:30 ~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2868" y="4818888"/>
            <a:ext cx="297271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 latinLnBrk="0">
              <a:lnSpc>
                <a:spcPct val="105000"/>
              </a:lnSpc>
            </a:pPr>
            <a:r>
              <a:rPr sz="2400" b="1" spc="-5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취침 · 자유시간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2868" y="5349240"/>
            <a:ext cx="2972714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 latinLnBrk="0">
              <a:lnSpc>
                <a:spcPct val="140000"/>
              </a:lnSpc>
            </a:pPr>
            <a:r>
              <a:rPr sz="1400" b="0">
                <a:solidFill>
                  <a:srgbClr val="CCCCCC"/>
                </a:solidFill>
                <a:latin typeface="Noto Sans KR"/>
                <a:ea typeface="Noto Sans KR"/>
                <a:cs typeface="Noto Sans KR"/>
              </a:rPr>
              <a:t>타닥타닥 불멍 앞에 둘러앉아 못다 한</a:t>
            </a:r>
            <a:br>
              <a:rPr sz="1400"/>
            </a:br>
            <a:r>
              <a:rPr sz="1400" b="0">
                <a:solidFill>
                  <a:srgbClr val="CCCCCC"/>
                </a:solidFill>
                <a:latin typeface="Noto Sans KR"/>
                <a:ea typeface="Noto Sans KR"/>
                <a:cs typeface="Noto Sans KR"/>
              </a:rPr>
              <a:t>이야기를. 졸리면 자러 가요.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685800"/>
            <a:ext cx="121916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eaLnBrk="0" latinLnBrk="0">
              <a:lnSpc>
                <a:spcPct val="125000"/>
              </a:lnSpc>
            </a:pPr>
            <a:r>
              <a:rPr sz="1500" b="1" spc="100">
                <a:solidFill>
                  <a:srgbClr val="CCCCCC"/>
                </a:solidFill>
                <a:latin typeface="Noto Sans KR"/>
                <a:ea typeface="Noto Sans KR"/>
                <a:cs typeface="Noto Sans KR"/>
              </a:rPr>
              <a:t>11.13 FRI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1051560"/>
            <a:ext cx="12191695" cy="2834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eaLnBrk="0" latinLnBrk="0">
              <a:lnSpc>
                <a:spcPct val="95000"/>
              </a:lnSpc>
            </a:pPr>
            <a:r>
              <a:rPr sz="19000" b="1" spc="-90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DAY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4023360"/>
            <a:ext cx="121916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eaLnBrk="0" latinLnBrk="0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더 가까워지는 시간 — 걷고, 빚고, 먹고, 돌아오기.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973677" y="4800600"/>
            <a:ext cx="1127760" cy="384048"/>
          </a:xfrm>
          <a:prstGeom prst="roundRect">
            <a:avLst>
              <a:gd name="adj" fmla="val 50000"/>
            </a:avLst>
          </a:prstGeom>
          <a:solidFill>
            <a:srgbClr val="262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973677" y="4800600"/>
            <a:ext cx="11277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eaLnBrk="0" latinLnBrk="0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횡성호수길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229453" y="4800600"/>
            <a:ext cx="975360" cy="384048"/>
          </a:xfrm>
          <a:prstGeom prst="roundRect">
            <a:avLst>
              <a:gd name="adj" fmla="val 50000"/>
            </a:avLst>
          </a:prstGeom>
          <a:solidFill>
            <a:srgbClr val="262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29453" y="4800600"/>
            <a:ext cx="9753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eaLnBrk="0" latinLnBrk="0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라오니아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32829" y="4800600"/>
            <a:ext cx="1013460" cy="384048"/>
          </a:xfrm>
          <a:prstGeom prst="roundRect">
            <a:avLst>
              <a:gd name="adj" fmla="val 50000"/>
            </a:avLst>
          </a:prstGeom>
          <a:solidFill>
            <a:srgbClr val="262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32829" y="4800600"/>
            <a:ext cx="10134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eaLnBrk="0" latinLnBrk="0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찐빵 체험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74305" y="4800600"/>
            <a:ext cx="670560" cy="384048"/>
          </a:xfrm>
          <a:prstGeom prst="roundRect">
            <a:avLst>
              <a:gd name="adj" fmla="val 50000"/>
            </a:avLst>
          </a:prstGeom>
          <a:solidFill>
            <a:srgbClr val="262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74305" y="4800600"/>
            <a:ext cx="6705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eaLnBrk="0" latinLnBrk="0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카페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5669280"/>
            <a:ext cx="121916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eaLnBrk="0" latinLnBrk="0">
              <a:lnSpc>
                <a:spcPct val="125000"/>
              </a:lnSpc>
            </a:pPr>
            <a:r>
              <a:rPr sz="1300" b="0">
                <a:solidFill>
                  <a:srgbClr val="CCCCCC"/>
                </a:solidFill>
                <a:latin typeface="Noto Sans KR"/>
                <a:ea typeface="Noto Sans KR"/>
                <a:cs typeface="Noto Sans KR"/>
              </a:rPr>
              <a:t>07:00 아침 운동(선택)  ·  08:30 아침식사 &amp; 정비  ·  09:30 퇴실 · 이동 (체크아웃 11시)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횡성호숫가의 나비 모양 벤치"/>
          <p:cNvPicPr>
            <a:picLocks noChangeAspect="1"/>
          </p:cNvPicPr>
          <p:nvPr/>
        </p:nvPicPr>
        <p:blipFill>
          <a:blip r:embed="rId2"/>
          <a:srcRect l="29571" r="29571"/>
          <a:stretch>
            <a:fillRect/>
          </a:stretch>
        </p:blipFill>
        <p:spPr>
          <a:xfrm>
            <a:off x="640080" y="548640"/>
            <a:ext cx="3530498" cy="5760720"/>
          </a:xfrm>
          <a:prstGeom prst="roundRect">
            <a:avLst>
              <a:gd name="adj" fmla="val 4662"/>
            </a:avLst>
          </a:prstGeom>
        </p:spPr>
      </p:pic>
      <p:sp>
        <p:nvSpPr>
          <p:cNvPr id="3" name="Rounded Rectangle 2"/>
          <p:cNvSpPr/>
          <p:nvPr/>
        </p:nvSpPr>
        <p:spPr>
          <a:xfrm>
            <a:off x="786384" y="5852159"/>
            <a:ext cx="1357376" cy="310896"/>
          </a:xfrm>
          <a:prstGeom prst="roundRect">
            <a:avLst>
              <a:gd name="adj" fmla="val 50000"/>
            </a:avLst>
          </a:prstGeom>
          <a:solidFill>
            <a:srgbClr val="E3E3E8">
              <a:alpha val="8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5852159"/>
            <a:ext cx="135737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eaLnBrk="0" latinLnBrk="0">
              <a:lnSpc>
                <a:spcPct val="100000"/>
              </a:lnSpc>
            </a:pPr>
            <a:r>
              <a:rPr sz="1200" b="1">
                <a:solidFill>
                  <a:srgbClr val="1D1D1F"/>
                </a:solidFill>
                <a:latin typeface="Noto Sans KR"/>
                <a:ea typeface="Noto Sans KR"/>
                <a:cs typeface="Noto Sans KR"/>
              </a:rPr>
              <a:t>호숫가 나비 벤치</a:t>
            </a:r>
          </a:p>
        </p:txBody>
      </p:sp>
      <p:pic>
        <p:nvPicPr>
          <p:cNvPr id="5" name="Picture 4" descr="호숫가를 따라 이어진 산책 데크"/>
          <p:cNvPicPr>
            <a:picLocks noChangeAspect="1"/>
          </p:cNvPicPr>
          <p:nvPr/>
        </p:nvPicPr>
        <p:blipFill>
          <a:blip r:embed="rId3"/>
          <a:srcRect t="1707" b="3984"/>
          <a:stretch>
            <a:fillRect/>
          </a:stretch>
        </p:blipFill>
        <p:spPr>
          <a:xfrm>
            <a:off x="4280306" y="548640"/>
            <a:ext cx="2394813" cy="2825496"/>
          </a:xfrm>
          <a:prstGeom prst="roundRect">
            <a:avLst>
              <a:gd name="adj" fmla="val 6872"/>
            </a:avLst>
          </a:prstGeom>
        </p:spPr>
      </p:pic>
      <p:sp>
        <p:nvSpPr>
          <p:cNvPr id="6" name="Rounded Rectangle 5"/>
          <p:cNvSpPr/>
          <p:nvPr/>
        </p:nvSpPr>
        <p:spPr>
          <a:xfrm>
            <a:off x="4408322" y="2935224"/>
            <a:ext cx="1217676" cy="310896"/>
          </a:xfrm>
          <a:prstGeom prst="roundRect">
            <a:avLst>
              <a:gd name="adj" fmla="val 50000"/>
            </a:avLst>
          </a:prstGeom>
          <a:solidFill>
            <a:srgbClr val="E3E3E8">
              <a:alpha val="8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08322" y="2935224"/>
            <a:ext cx="121767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eaLnBrk="0" latinLnBrk="0">
              <a:lnSpc>
                <a:spcPct val="100000"/>
              </a:lnSpc>
            </a:pPr>
            <a:r>
              <a:rPr sz="1200" b="1">
                <a:solidFill>
                  <a:srgbClr val="1D1D1F"/>
                </a:solidFill>
                <a:latin typeface="Noto Sans KR"/>
                <a:ea typeface="Noto Sans KR"/>
                <a:cs typeface="Noto Sans KR"/>
              </a:rPr>
              <a:t>호수 산책 데크</a:t>
            </a:r>
          </a:p>
        </p:txBody>
      </p:sp>
      <p:pic>
        <p:nvPicPr>
          <p:cNvPr id="8" name="Picture 7" descr="호수길의 조형물과 호수"/>
          <p:cNvPicPr>
            <a:picLocks noChangeAspect="1"/>
          </p:cNvPicPr>
          <p:nvPr/>
        </p:nvPicPr>
        <p:blipFill>
          <a:blip r:embed="rId4"/>
          <a:srcRect l="21748" r="21748"/>
          <a:stretch>
            <a:fillRect/>
          </a:stretch>
        </p:blipFill>
        <p:spPr>
          <a:xfrm>
            <a:off x="4280306" y="3483864"/>
            <a:ext cx="2394813" cy="2825496"/>
          </a:xfrm>
          <a:prstGeom prst="roundRect">
            <a:avLst>
              <a:gd name="adj" fmla="val 6872"/>
            </a:avLst>
          </a:prstGeom>
        </p:spPr>
      </p:pic>
      <p:sp>
        <p:nvSpPr>
          <p:cNvPr id="9" name="Rounded Rectangle 8"/>
          <p:cNvSpPr/>
          <p:nvPr/>
        </p:nvSpPr>
        <p:spPr>
          <a:xfrm>
            <a:off x="4408322" y="5870448"/>
            <a:ext cx="1183386" cy="310896"/>
          </a:xfrm>
          <a:prstGeom prst="roundRect">
            <a:avLst>
              <a:gd name="adj" fmla="val 50000"/>
            </a:avLst>
          </a:prstGeom>
          <a:solidFill>
            <a:srgbClr val="E3E3E8">
              <a:alpha val="8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08322" y="5870448"/>
            <a:ext cx="118338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eaLnBrk="0" latinLnBrk="0">
              <a:lnSpc>
                <a:spcPct val="100000"/>
              </a:lnSpc>
            </a:pPr>
            <a:r>
              <a:rPr sz="1200" b="1">
                <a:solidFill>
                  <a:srgbClr val="1D1D1F"/>
                </a:solidFill>
                <a:latin typeface="Noto Sans KR"/>
                <a:ea typeface="Noto Sans KR"/>
                <a:cs typeface="Noto Sans KR"/>
              </a:rPr>
              <a:t>호수길 조형물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86600" y="731520"/>
            <a:ext cx="44622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 latinLnBrk="0">
              <a:lnSpc>
                <a:spcPct val="125000"/>
              </a:lnSpc>
            </a:pPr>
            <a:r>
              <a:rPr sz="1300" b="1" spc="40">
                <a:solidFill>
                  <a:srgbClr val="1D1D1F"/>
                </a:solidFill>
                <a:latin typeface="Noto Sans KR"/>
                <a:ea typeface="Noto Sans KR"/>
                <a:cs typeface="Noto Sans KR"/>
              </a:rPr>
              <a:t>10:00 – 12:00</a:t>
            </a:r>
            <a:r>
              <a:rPr sz="1300" b="1" spc="40">
                <a:solidFill>
                  <a:srgbClr val="7A7A7A"/>
                </a:solidFill>
                <a:latin typeface="Noto Sans KR"/>
                <a:ea typeface="Noto Sans KR"/>
                <a:cs typeface="Noto Sans KR"/>
              </a:rPr>
              <a:t>   TEAM BUILDING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6600" y="1188720"/>
            <a:ext cx="4462272" cy="5694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 latinLnBrk="0">
              <a:lnSpc>
                <a:spcPct val="110000"/>
              </a:lnSpc>
            </a:pPr>
            <a:r>
              <a:rPr sz="3800" b="1" spc="-80">
                <a:solidFill>
                  <a:srgbClr val="1D1D1F"/>
                </a:solidFill>
                <a:latin typeface="Noto Sans KR"/>
                <a:ea typeface="Noto Sans KR"/>
                <a:cs typeface="Noto Sans KR"/>
              </a:rPr>
              <a:t>횡성호수길 5구간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86600" y="1986788"/>
            <a:ext cx="4462272" cy="971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 latinLnBrk="0">
              <a:lnSpc>
                <a:spcPct val="145000"/>
              </a:lnSpc>
            </a:pPr>
            <a:r>
              <a:rPr sz="1700" b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‘가족길’이라는 이름처럼 누구와도 부담 없이</a:t>
            </a:r>
            <a:br>
              <a:rPr sz="1700"/>
            </a:br>
            <a:r>
              <a:rPr sz="1700" b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걷는 호숫가 산책길. 오늘의 미션은 하나, 걷는</a:t>
            </a:r>
            <a:br>
              <a:rPr sz="1700"/>
            </a:br>
            <a:r>
              <a:rPr sz="1700" b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내내 수다 멈추지 않기.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86600" y="3232657"/>
            <a:ext cx="3790949" cy="384048"/>
          </a:xfrm>
          <a:prstGeom prst="roundRect">
            <a:avLst>
              <a:gd name="adj" fmla="val 41666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69480" y="3232657"/>
            <a:ext cx="347090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eaLnBrk="0" latinLnBrk="0">
              <a:lnSpc>
                <a:spcPct val="115000"/>
              </a:lnSpc>
            </a:pPr>
            <a:r>
              <a:rPr sz="1100" b="1">
                <a:solidFill>
                  <a:srgbClr val="0066CC"/>
                </a:solidFill>
                <a:latin typeface="Noto Sans KR"/>
                <a:ea typeface="Noto Sans KR"/>
                <a:cs typeface="Noto Sans KR"/>
              </a:rPr>
              <a:t>HEAL POINT  </a:t>
            </a:r>
            <a:r>
              <a:rPr sz="1300" b="1">
                <a:solidFill>
                  <a:srgbClr val="1D1D1F"/>
                </a:solidFill>
                <a:latin typeface="Noto Sans KR"/>
                <a:ea typeface="Noto Sans KR"/>
                <a:cs typeface="Noto Sans KR"/>
              </a:rPr>
              <a:t>호수 따라 걸으며 수다 떠는 2시간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086600" y="4608576"/>
            <a:ext cx="4462272" cy="9144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86600" y="4663440"/>
            <a:ext cx="868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 latinLnBrk="0">
              <a:lnSpc>
                <a:spcPct val="100000"/>
              </a:lnSpc>
            </a:pPr>
            <a:r>
              <a:rPr sz="1100" b="1" spc="40">
                <a:solidFill>
                  <a:srgbClr val="7A7A7A"/>
                </a:solidFill>
                <a:latin typeface="Noto Sans KR"/>
                <a:ea typeface="Noto Sans KR"/>
                <a:cs typeface="Noto Sans KR"/>
              </a:rPr>
              <a:t>코스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01000" y="4654296"/>
            <a:ext cx="354787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 latinLnBrk="0">
              <a:lnSpc>
                <a:spcPct val="115000"/>
              </a:lnSpc>
            </a:pPr>
            <a:r>
              <a:rPr sz="1400" b="0">
                <a:solidFill>
                  <a:srgbClr val="1D1D1F"/>
                </a:solidFill>
                <a:latin typeface="Noto Sans KR"/>
                <a:ea typeface="Noto Sans KR"/>
                <a:cs typeface="Noto Sans KR"/>
              </a:rPr>
              <a:t>횡성호수길 5구간(가족길) 산책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086600" y="5111496"/>
            <a:ext cx="4462272" cy="9144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86600" y="5166359"/>
            <a:ext cx="868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 latinLnBrk="0">
              <a:lnSpc>
                <a:spcPct val="100000"/>
              </a:lnSpc>
            </a:pPr>
            <a:r>
              <a:rPr sz="1100" b="1" spc="40">
                <a:solidFill>
                  <a:srgbClr val="7A7A7A"/>
                </a:solidFill>
                <a:latin typeface="Noto Sans KR"/>
                <a:ea typeface="Noto Sans KR"/>
                <a:cs typeface="Noto Sans KR"/>
              </a:rPr>
              <a:t>입장료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01000" y="5157216"/>
            <a:ext cx="354787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 latinLnBrk="0">
              <a:lnSpc>
                <a:spcPct val="115000"/>
              </a:lnSpc>
            </a:pPr>
            <a:r>
              <a:rPr sz="1400" b="0">
                <a:solidFill>
                  <a:srgbClr val="1D1D1F"/>
                </a:solidFill>
                <a:latin typeface="Noto Sans KR"/>
                <a:ea typeface="Noto Sans KR"/>
                <a:cs typeface="Noto Sans KR"/>
              </a:rPr>
              <a:t>1인 2,000원 → 횡성관광상품권 환급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086600" y="5614416"/>
            <a:ext cx="4462272" cy="9144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86600" y="5669279"/>
            <a:ext cx="868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 latinLnBrk="0">
              <a:lnSpc>
                <a:spcPct val="100000"/>
              </a:lnSpc>
            </a:pPr>
            <a:r>
              <a:rPr sz="1100" b="1" spc="40">
                <a:solidFill>
                  <a:srgbClr val="7A7A7A"/>
                </a:solidFill>
                <a:latin typeface="Noto Sans KR"/>
                <a:ea typeface="Noto Sans KR"/>
                <a:cs typeface="Noto Sans KR"/>
              </a:rPr>
              <a:t>지도</a:t>
            </a:r>
          </a:p>
        </p:txBody>
      </p:sp>
      <p:sp>
        <p:nvSpPr>
          <p:cNvPr id="24" name="TextBox 23">
            <a:hlinkClick r:id="rId5"/>
          </p:cNvPr>
          <p:cNvSpPr txBox="1"/>
          <p:nvPr/>
        </p:nvSpPr>
        <p:spPr>
          <a:xfrm>
            <a:off x="8001000" y="5660136"/>
            <a:ext cx="354787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 latinLnBrk="0">
              <a:lnSpc>
                <a:spcPct val="115000"/>
              </a:lnSpc>
            </a:pPr>
            <a:r>
              <a:rPr sz="1400" b="0">
                <a:solidFill>
                  <a:srgbClr val="0066CC"/>
                </a:solidFill>
                <a:latin typeface="Noto Sans KR"/>
                <a:ea typeface="Noto Sans KR"/>
                <a:cs typeface="Noto Sans KR"/>
              </a:rPr>
              <a:t>네이버지도에서 보기 ›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727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731520"/>
            <a:ext cx="4297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 latinLnBrk="0">
              <a:lnSpc>
                <a:spcPct val="125000"/>
              </a:lnSpc>
            </a:pPr>
            <a:r>
              <a:rPr sz="1300" b="1" spc="4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12:30 – 14:00</a:t>
            </a:r>
            <a:r>
              <a:rPr sz="1300" b="1" spc="40">
                <a:solidFill>
                  <a:srgbClr val="CCCCCC"/>
                </a:solidFill>
                <a:latin typeface="Noto Sans KR"/>
                <a:ea typeface="Noto Sans KR"/>
                <a:cs typeface="Noto Sans KR"/>
              </a:rPr>
              <a:t>   LUNCH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4297680" cy="5095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 latinLnBrk="0">
              <a:lnSpc>
                <a:spcPct val="110000"/>
              </a:lnSpc>
            </a:pPr>
            <a:r>
              <a:rPr sz="3400" b="1" spc="-8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한우 무한리필 라오니아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26844"/>
            <a:ext cx="4297680" cy="971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 latinLnBrk="0">
              <a:lnSpc>
                <a:spcPct val="145000"/>
              </a:lnSpc>
            </a:pPr>
            <a:r>
              <a:rPr sz="1700" b="0">
                <a:solidFill>
                  <a:srgbClr val="CCCCCC"/>
                </a:solidFill>
                <a:latin typeface="Noto Sans KR"/>
                <a:ea typeface="Noto Sans KR"/>
                <a:cs typeface="Noto Sans KR"/>
              </a:rPr>
              <a:t>횡성 한우를 마음껏. 오늘만큼은 ‘적당히’가</a:t>
            </a:r>
            <a:br>
              <a:rPr sz="1700"/>
            </a:br>
            <a:r>
              <a:rPr sz="1700" b="0">
                <a:solidFill>
                  <a:srgbClr val="CCCCCC"/>
                </a:solidFill>
                <a:latin typeface="Noto Sans KR"/>
                <a:ea typeface="Noto Sans KR"/>
                <a:cs typeface="Noto Sans KR"/>
              </a:rPr>
              <a:t>없어요. 고기와 반찬은 셀프로 가져다 먹는</a:t>
            </a:r>
            <a:br>
              <a:rPr sz="1700"/>
            </a:br>
            <a:r>
              <a:rPr sz="1700" b="0">
                <a:solidFill>
                  <a:srgbClr val="CCCCCC"/>
                </a:solidFill>
                <a:latin typeface="Noto Sans KR"/>
                <a:ea typeface="Noto Sans KR"/>
                <a:cs typeface="Noto Sans KR"/>
              </a:rPr>
              <a:t>방식이에요.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3172713"/>
            <a:ext cx="4297680" cy="640080"/>
          </a:xfrm>
          <a:prstGeom prst="roundRect">
            <a:avLst>
              <a:gd name="adj" fmla="val 30000"/>
            </a:avLst>
          </a:prstGeom>
          <a:solidFill>
            <a:srgbClr val="3A3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3172713"/>
            <a:ext cx="39776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eaLnBrk="0" latinLnBrk="0">
              <a:lnSpc>
                <a:spcPct val="115000"/>
              </a:lnSpc>
            </a:pPr>
            <a:r>
              <a:rPr sz="1100" b="1">
                <a:solidFill>
                  <a:srgbClr val="2997FF"/>
                </a:solidFill>
                <a:latin typeface="Noto Sans KR"/>
                <a:ea typeface="Noto Sans KR"/>
                <a:cs typeface="Noto Sans KR"/>
              </a:rPr>
              <a:t>HEAL POINT  </a:t>
            </a:r>
            <a:r>
              <a:rPr sz="13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고기 굽는 동안에도 수다는 멈추지 않아요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4608576"/>
            <a:ext cx="4297680" cy="9144"/>
          </a:xfrm>
          <a:prstGeom prst="rect">
            <a:avLst/>
          </a:prstGeom>
          <a:solidFill>
            <a:srgbClr val="4A4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4663440"/>
            <a:ext cx="868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 latinLnBrk="0">
              <a:lnSpc>
                <a:spcPct val="100000"/>
              </a:lnSpc>
            </a:pPr>
            <a:r>
              <a:rPr sz="1100" b="1" spc="40">
                <a:solidFill>
                  <a:srgbClr val="CCCCCC"/>
                </a:solidFill>
                <a:latin typeface="Noto Sans KR"/>
                <a:ea typeface="Noto Sans KR"/>
                <a:cs typeface="Noto Sans KR"/>
              </a:rPr>
              <a:t>메뉴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4654296"/>
            <a:ext cx="3383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 latinLnBrk="0">
              <a:lnSpc>
                <a:spcPct val="115000"/>
              </a:lnSpc>
            </a:pPr>
            <a:r>
              <a:rPr sz="140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한우 무한리필 (셀프 리필)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5111496"/>
            <a:ext cx="4297680" cy="9144"/>
          </a:xfrm>
          <a:prstGeom prst="rect">
            <a:avLst/>
          </a:prstGeom>
          <a:solidFill>
            <a:srgbClr val="4A4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5166359"/>
            <a:ext cx="868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 latinLnBrk="0">
              <a:lnSpc>
                <a:spcPct val="100000"/>
              </a:lnSpc>
            </a:pPr>
            <a:r>
              <a:rPr sz="1100" b="1" spc="40">
                <a:solidFill>
                  <a:srgbClr val="CCCCCC"/>
                </a:solidFill>
                <a:latin typeface="Noto Sans KR"/>
                <a:ea typeface="Noto Sans KR"/>
                <a:cs typeface="Noto Sans KR"/>
              </a:rPr>
              <a:t>주소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5157216"/>
            <a:ext cx="3383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 latinLnBrk="0">
              <a:lnSpc>
                <a:spcPct val="115000"/>
              </a:lnSpc>
            </a:pPr>
            <a:r>
              <a:rPr sz="140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횡성군 둔내면 고원로398번길 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5614416"/>
            <a:ext cx="4297680" cy="9144"/>
          </a:xfrm>
          <a:prstGeom prst="rect">
            <a:avLst/>
          </a:prstGeom>
          <a:solidFill>
            <a:srgbClr val="4A4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5669279"/>
            <a:ext cx="868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 latinLnBrk="0">
              <a:lnSpc>
                <a:spcPct val="100000"/>
              </a:lnSpc>
            </a:pPr>
            <a:r>
              <a:rPr sz="1100" b="1" spc="40">
                <a:solidFill>
                  <a:srgbClr val="CCCCCC"/>
                </a:solidFill>
                <a:latin typeface="Noto Sans KR"/>
                <a:ea typeface="Noto Sans KR"/>
                <a:cs typeface="Noto Sans KR"/>
              </a:rPr>
              <a:t>지도</a:t>
            </a:r>
          </a:p>
        </p:txBody>
      </p:sp>
      <p:sp>
        <p:nvSpPr>
          <p:cNvPr id="15" name="TextBox 14">
            <a:hlinkClick r:id="rId2"/>
          </p:cNvPr>
          <p:cNvSpPr txBox="1"/>
          <p:nvPr/>
        </p:nvSpPr>
        <p:spPr>
          <a:xfrm>
            <a:off x="1554480" y="5660136"/>
            <a:ext cx="3383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 latinLnBrk="0">
              <a:lnSpc>
                <a:spcPct val="115000"/>
              </a:lnSpc>
            </a:pPr>
            <a:r>
              <a:rPr sz="1400" b="0">
                <a:solidFill>
                  <a:srgbClr val="2997FF"/>
                </a:solidFill>
                <a:latin typeface="Noto Sans KR"/>
                <a:ea typeface="Noto Sans KR"/>
                <a:cs typeface="Noto Sans KR"/>
              </a:rPr>
              <a:t>네이버지도에서 보기 ›</a:t>
            </a:r>
          </a:p>
        </p:txBody>
      </p:sp>
      <p:pic>
        <p:nvPicPr>
          <p:cNvPr id="16" name="Picture 15" descr="불판 위에서 구워지는 한우"/>
          <p:cNvPicPr>
            <a:picLocks noChangeAspect="1"/>
          </p:cNvPicPr>
          <p:nvPr/>
        </p:nvPicPr>
        <p:blipFill>
          <a:blip r:embed="rId3"/>
          <a:srcRect l="10027" r="10027"/>
          <a:stretch>
            <a:fillRect/>
          </a:stretch>
        </p:blipFill>
        <p:spPr>
          <a:xfrm>
            <a:off x="5257800" y="548640"/>
            <a:ext cx="3680277" cy="5760720"/>
          </a:xfrm>
          <a:prstGeom prst="roundRect">
            <a:avLst>
              <a:gd name="adj" fmla="val 4472"/>
            </a:avLst>
          </a:prstGeom>
        </p:spPr>
      </p:pic>
      <p:sp>
        <p:nvSpPr>
          <p:cNvPr id="17" name="Rounded Rectangle 16"/>
          <p:cNvSpPr/>
          <p:nvPr/>
        </p:nvSpPr>
        <p:spPr>
          <a:xfrm>
            <a:off x="5404104" y="5852159"/>
            <a:ext cx="1077976" cy="310896"/>
          </a:xfrm>
          <a:prstGeom prst="roundRect">
            <a:avLst>
              <a:gd name="adj" fmla="val 50000"/>
            </a:avLst>
          </a:prstGeom>
          <a:solidFill>
            <a:srgbClr val="E3E3E8">
              <a:alpha val="8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04104" y="5852159"/>
            <a:ext cx="107797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eaLnBrk="0" latinLnBrk="0">
              <a:lnSpc>
                <a:spcPct val="100000"/>
              </a:lnSpc>
            </a:pPr>
            <a:r>
              <a:rPr sz="1200" b="1">
                <a:solidFill>
                  <a:srgbClr val="1D1D1F"/>
                </a:solidFill>
                <a:latin typeface="Noto Sans KR"/>
                <a:ea typeface="Noto Sans KR"/>
                <a:cs typeface="Noto Sans KR"/>
              </a:rPr>
              <a:t>불판 위 한우</a:t>
            </a:r>
          </a:p>
        </p:txBody>
      </p:sp>
      <p:pic>
        <p:nvPicPr>
          <p:cNvPr id="19" name="Picture 18" descr="라오니아 한우 무한리필 간판"/>
          <p:cNvPicPr>
            <a:picLocks noChangeAspect="1"/>
          </p:cNvPicPr>
          <p:nvPr/>
        </p:nvPicPr>
        <p:blipFill>
          <a:blip r:embed="rId4"/>
          <a:srcRect l="6154" r="6154"/>
          <a:stretch>
            <a:fillRect/>
          </a:stretch>
        </p:blipFill>
        <p:spPr>
          <a:xfrm>
            <a:off x="9047805" y="548640"/>
            <a:ext cx="2501066" cy="2825496"/>
          </a:xfrm>
          <a:prstGeom prst="roundRect">
            <a:avLst>
              <a:gd name="adj" fmla="val 6580"/>
            </a:avLst>
          </a:prstGeom>
        </p:spPr>
      </p:pic>
      <p:sp>
        <p:nvSpPr>
          <p:cNvPr id="20" name="Rounded Rectangle 19"/>
          <p:cNvSpPr/>
          <p:nvPr/>
        </p:nvSpPr>
        <p:spPr>
          <a:xfrm>
            <a:off x="9175821" y="2935224"/>
            <a:ext cx="1776476" cy="310896"/>
          </a:xfrm>
          <a:prstGeom prst="roundRect">
            <a:avLst>
              <a:gd name="adj" fmla="val 50000"/>
            </a:avLst>
          </a:prstGeom>
          <a:solidFill>
            <a:srgbClr val="E3E3E8">
              <a:alpha val="8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75821" y="2935224"/>
            <a:ext cx="177647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eaLnBrk="0" latinLnBrk="0">
              <a:lnSpc>
                <a:spcPct val="100000"/>
              </a:lnSpc>
            </a:pPr>
            <a:r>
              <a:rPr sz="1200" b="1">
                <a:solidFill>
                  <a:srgbClr val="1D1D1F"/>
                </a:solidFill>
                <a:latin typeface="Noto Sans KR"/>
                <a:ea typeface="Noto Sans KR"/>
                <a:cs typeface="Noto Sans KR"/>
              </a:rPr>
              <a:t>라오니아 한우 무한리필</a:t>
            </a:r>
          </a:p>
        </p:txBody>
      </p:sp>
      <p:pic>
        <p:nvPicPr>
          <p:cNvPr id="22" name="Picture 21" descr="구운 한우 한 점"/>
          <p:cNvPicPr>
            <a:picLocks noChangeAspect="1"/>
          </p:cNvPicPr>
          <p:nvPr/>
        </p:nvPicPr>
        <p:blipFill>
          <a:blip r:embed="rId5"/>
          <a:srcRect t="4811" b="4811"/>
          <a:stretch>
            <a:fillRect/>
          </a:stretch>
        </p:blipFill>
        <p:spPr>
          <a:xfrm>
            <a:off x="9047805" y="3483864"/>
            <a:ext cx="2501066" cy="2825496"/>
          </a:xfrm>
          <a:prstGeom prst="roundRect">
            <a:avLst>
              <a:gd name="adj" fmla="val 6580"/>
            </a:avLst>
          </a:prstGeom>
        </p:spPr>
      </p:pic>
      <p:sp>
        <p:nvSpPr>
          <p:cNvPr id="23" name="Rounded Rectangle 22"/>
          <p:cNvSpPr/>
          <p:nvPr/>
        </p:nvSpPr>
        <p:spPr>
          <a:xfrm>
            <a:off x="9175821" y="5870448"/>
            <a:ext cx="1112266" cy="310896"/>
          </a:xfrm>
          <a:prstGeom prst="roundRect">
            <a:avLst>
              <a:gd name="adj" fmla="val 50000"/>
            </a:avLst>
          </a:prstGeom>
          <a:solidFill>
            <a:srgbClr val="E3E3E8">
              <a:alpha val="8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75821" y="5870448"/>
            <a:ext cx="111226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eaLnBrk="0" latinLnBrk="0">
              <a:lnSpc>
                <a:spcPct val="100000"/>
              </a:lnSpc>
            </a:pPr>
            <a:r>
              <a:rPr sz="1200" b="1">
                <a:solidFill>
                  <a:srgbClr val="1D1D1F"/>
                </a:solidFill>
                <a:latin typeface="Noto Sans KR"/>
                <a:ea typeface="Noto Sans KR"/>
                <a:cs typeface="Noto Sans KR"/>
              </a:rPr>
              <a:t>갓 구운 한 점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731520"/>
            <a:ext cx="4297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 latinLnBrk="0">
              <a:lnSpc>
                <a:spcPct val="125000"/>
              </a:lnSpc>
            </a:pPr>
            <a:r>
              <a:rPr sz="1300" b="1" spc="40">
                <a:solidFill>
                  <a:srgbClr val="1D1D1F"/>
                </a:solidFill>
                <a:latin typeface="Noto Sans KR"/>
                <a:ea typeface="Noto Sans KR"/>
                <a:cs typeface="Noto Sans KR"/>
              </a:rPr>
              <a:t>14:30 ~ 15:30</a:t>
            </a:r>
            <a:r>
              <a:rPr sz="1300" b="1" spc="40">
                <a:solidFill>
                  <a:srgbClr val="7A7A7A"/>
                </a:solidFill>
                <a:latin typeface="Noto Sans KR"/>
                <a:ea typeface="Noto Sans KR"/>
                <a:cs typeface="Noto Sans KR"/>
              </a:rPr>
              <a:t>   TEAM BUILDING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77920" y="694944"/>
            <a:ext cx="736600" cy="274320"/>
          </a:xfrm>
          <a:prstGeom prst="roundRect">
            <a:avLst>
              <a:gd name="adj" fmla="val 50000"/>
            </a:avLst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77920" y="694944"/>
            <a:ext cx="736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eaLnBrk="0" latinLnBrk="0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옵션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4297680" cy="4795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 latinLnBrk="0">
              <a:lnSpc>
                <a:spcPct val="110000"/>
              </a:lnSpc>
            </a:pPr>
            <a:r>
              <a:rPr sz="3200" b="1" spc="-80">
                <a:solidFill>
                  <a:srgbClr val="1D1D1F"/>
                </a:solidFill>
                <a:latin typeface="Noto Sans KR"/>
                <a:ea typeface="Noto Sans KR"/>
                <a:cs typeface="Noto Sans KR"/>
              </a:rPr>
              <a:t>안흥찐빵 모락모락마을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96872"/>
            <a:ext cx="4297680" cy="971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 latinLnBrk="0">
              <a:lnSpc>
                <a:spcPct val="145000"/>
              </a:lnSpc>
            </a:pPr>
            <a:r>
              <a:rPr sz="1700" b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횡성 하면 안흥찐빵. 반죽을 빚고 팥소를 넣어</a:t>
            </a:r>
            <a:br>
              <a:rPr sz="1700"/>
            </a:br>
            <a:r>
              <a:rPr sz="1700" b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직접 만들어요. 모락모락 쪄지길 기다리는</a:t>
            </a:r>
            <a:br>
              <a:rPr sz="1700"/>
            </a:br>
            <a:r>
              <a:rPr sz="1700" b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시간까지 힐링이에요.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142742"/>
            <a:ext cx="2908300" cy="384048"/>
          </a:xfrm>
          <a:prstGeom prst="roundRect">
            <a:avLst>
              <a:gd name="adj" fmla="val 41666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3142742"/>
            <a:ext cx="258825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eaLnBrk="0" latinLnBrk="0">
              <a:lnSpc>
                <a:spcPct val="115000"/>
              </a:lnSpc>
            </a:pPr>
            <a:r>
              <a:rPr sz="1100" b="1">
                <a:solidFill>
                  <a:srgbClr val="0066CC"/>
                </a:solidFill>
                <a:latin typeface="Noto Sans KR"/>
                <a:ea typeface="Noto Sans KR"/>
                <a:cs typeface="Noto Sans KR"/>
              </a:rPr>
              <a:t>HEAL POINT  </a:t>
            </a:r>
            <a:r>
              <a:rPr sz="1300" b="1">
                <a:solidFill>
                  <a:srgbClr val="1D1D1F"/>
                </a:solidFill>
                <a:latin typeface="Noto Sans KR"/>
                <a:ea typeface="Noto Sans KR"/>
                <a:cs typeface="Noto Sans KR"/>
              </a:rPr>
              <a:t>손은 빚고, 입은 수다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4608576"/>
            <a:ext cx="4297680" cy="9144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4663440"/>
            <a:ext cx="868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 latinLnBrk="0">
              <a:lnSpc>
                <a:spcPct val="100000"/>
              </a:lnSpc>
            </a:pPr>
            <a:r>
              <a:rPr sz="1100" b="1" spc="40">
                <a:solidFill>
                  <a:srgbClr val="7A7A7A"/>
                </a:solidFill>
                <a:latin typeface="Noto Sans KR"/>
                <a:ea typeface="Noto Sans KR"/>
                <a:cs typeface="Noto Sans KR"/>
              </a:rPr>
              <a:t>체험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4654296"/>
            <a:ext cx="3383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 latinLnBrk="0">
              <a:lnSpc>
                <a:spcPct val="115000"/>
              </a:lnSpc>
            </a:pPr>
            <a:r>
              <a:rPr sz="1400" b="0">
                <a:solidFill>
                  <a:srgbClr val="1D1D1F"/>
                </a:solidFill>
                <a:latin typeface="Noto Sans KR"/>
                <a:ea typeface="Noto Sans KR"/>
                <a:cs typeface="Noto Sans KR"/>
              </a:rPr>
              <a:t>찐빵 만들기 · 14:30 예약 (현장결제)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5111496"/>
            <a:ext cx="4297680" cy="9144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5166359"/>
            <a:ext cx="868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 latinLnBrk="0">
              <a:lnSpc>
                <a:spcPct val="100000"/>
              </a:lnSpc>
            </a:pPr>
            <a:r>
              <a:rPr sz="1100" b="1" spc="40">
                <a:solidFill>
                  <a:srgbClr val="7A7A7A"/>
                </a:solidFill>
                <a:latin typeface="Noto Sans KR"/>
                <a:ea typeface="Noto Sans KR"/>
                <a:cs typeface="Noto Sans KR"/>
              </a:rPr>
              <a:t>주소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5157216"/>
            <a:ext cx="3383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 latinLnBrk="0">
              <a:lnSpc>
                <a:spcPct val="115000"/>
              </a:lnSpc>
            </a:pPr>
            <a:r>
              <a:rPr sz="1400" b="0">
                <a:solidFill>
                  <a:srgbClr val="1D1D1F"/>
                </a:solidFill>
                <a:latin typeface="Noto Sans KR"/>
                <a:ea typeface="Noto Sans KR"/>
                <a:cs typeface="Noto Sans KR"/>
              </a:rPr>
              <a:t>횡성군 안흥면 주천강로 1868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5614416"/>
            <a:ext cx="4297680" cy="9144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5669279"/>
            <a:ext cx="868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 latinLnBrk="0">
              <a:lnSpc>
                <a:spcPct val="100000"/>
              </a:lnSpc>
            </a:pPr>
            <a:r>
              <a:rPr sz="1100" b="1" spc="40">
                <a:solidFill>
                  <a:srgbClr val="7A7A7A"/>
                </a:solidFill>
                <a:latin typeface="Noto Sans KR"/>
                <a:ea typeface="Noto Sans KR"/>
                <a:cs typeface="Noto Sans KR"/>
              </a:rPr>
              <a:t>링크</a:t>
            </a:r>
          </a:p>
        </p:txBody>
      </p:sp>
      <p:sp>
        <p:nvSpPr>
          <p:cNvPr id="17" name="TextBox 16">
            <a:hlinkClick r:id="rId2"/>
          </p:cNvPr>
          <p:cNvSpPr txBox="1"/>
          <p:nvPr/>
        </p:nvSpPr>
        <p:spPr>
          <a:xfrm>
            <a:off x="1554480" y="5660136"/>
            <a:ext cx="3383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 latinLnBrk="0">
              <a:lnSpc>
                <a:spcPct val="115000"/>
              </a:lnSpc>
            </a:pPr>
            <a:r>
              <a:rPr sz="1400" b="0">
                <a:solidFill>
                  <a:srgbClr val="0066CC"/>
                </a:solidFill>
                <a:latin typeface="Noto Sans KR"/>
                <a:ea typeface="Noto Sans KR"/>
                <a:cs typeface="Noto Sans KR"/>
              </a:rPr>
              <a:t>체험 안내 ›</a:t>
            </a:r>
          </a:p>
        </p:txBody>
      </p:sp>
      <p:pic>
        <p:nvPicPr>
          <p:cNvPr id="18" name="Picture 17" descr="찜기 위에 올려진 귀여운 찐빵들"/>
          <p:cNvPicPr>
            <a:picLocks noChangeAspect="1"/>
          </p:cNvPicPr>
          <p:nvPr/>
        </p:nvPicPr>
        <p:blipFill>
          <a:blip r:embed="rId3"/>
          <a:srcRect l="10038" r="10038"/>
          <a:stretch>
            <a:fillRect/>
          </a:stretch>
        </p:blipFill>
        <p:spPr>
          <a:xfrm>
            <a:off x="5257800" y="548640"/>
            <a:ext cx="3680277" cy="5760720"/>
          </a:xfrm>
          <a:prstGeom prst="roundRect">
            <a:avLst>
              <a:gd name="adj" fmla="val 4472"/>
            </a:avLst>
          </a:prstGeom>
        </p:spPr>
      </p:pic>
      <p:sp>
        <p:nvSpPr>
          <p:cNvPr id="19" name="Rounded Rectangle 18"/>
          <p:cNvSpPr/>
          <p:nvPr/>
        </p:nvSpPr>
        <p:spPr>
          <a:xfrm>
            <a:off x="5404104" y="5852159"/>
            <a:ext cx="1357376" cy="310896"/>
          </a:xfrm>
          <a:prstGeom prst="roundRect">
            <a:avLst>
              <a:gd name="adj" fmla="val 50000"/>
            </a:avLst>
          </a:prstGeom>
          <a:solidFill>
            <a:srgbClr val="E3E3E8">
              <a:alpha val="8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04104" y="5852159"/>
            <a:ext cx="135737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eaLnBrk="0" latinLnBrk="0">
              <a:lnSpc>
                <a:spcPct val="100000"/>
              </a:lnSpc>
            </a:pPr>
            <a:r>
              <a:rPr sz="1200" b="1">
                <a:solidFill>
                  <a:srgbClr val="1D1D1F"/>
                </a:solidFill>
                <a:latin typeface="Noto Sans KR"/>
                <a:ea typeface="Noto Sans KR"/>
                <a:cs typeface="Noto Sans KR"/>
              </a:rPr>
              <a:t>찐빵 만들기 체험</a:t>
            </a:r>
          </a:p>
        </p:txBody>
      </p:sp>
      <p:pic>
        <p:nvPicPr>
          <p:cNvPr id="21" name="Picture 20" descr="안흥찐빵 모락모락마을 건물과 마스코트"/>
          <p:cNvPicPr>
            <a:picLocks noChangeAspect="1"/>
          </p:cNvPicPr>
          <p:nvPr/>
        </p:nvPicPr>
        <p:blipFill>
          <a:blip r:embed="rId4"/>
          <a:srcRect l="16775" r="16775"/>
          <a:stretch>
            <a:fillRect/>
          </a:stretch>
        </p:blipFill>
        <p:spPr>
          <a:xfrm>
            <a:off x="9047805" y="548640"/>
            <a:ext cx="2501066" cy="2825496"/>
          </a:xfrm>
          <a:prstGeom prst="roundRect">
            <a:avLst>
              <a:gd name="adj" fmla="val 6580"/>
            </a:avLst>
          </a:prstGeom>
        </p:spPr>
      </p:pic>
      <p:sp>
        <p:nvSpPr>
          <p:cNvPr id="22" name="Rounded Rectangle 21"/>
          <p:cNvSpPr/>
          <p:nvPr/>
        </p:nvSpPr>
        <p:spPr>
          <a:xfrm>
            <a:off x="9175821" y="2935224"/>
            <a:ext cx="1149096" cy="310896"/>
          </a:xfrm>
          <a:prstGeom prst="roundRect">
            <a:avLst>
              <a:gd name="adj" fmla="val 50000"/>
            </a:avLst>
          </a:prstGeom>
          <a:solidFill>
            <a:srgbClr val="E3E3E8">
              <a:alpha val="8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75821" y="2935224"/>
            <a:ext cx="11490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eaLnBrk="0" latinLnBrk="0">
              <a:lnSpc>
                <a:spcPct val="100000"/>
              </a:lnSpc>
            </a:pPr>
            <a:r>
              <a:rPr sz="1200" b="1">
                <a:solidFill>
                  <a:srgbClr val="1D1D1F"/>
                </a:solidFill>
                <a:latin typeface="Noto Sans KR"/>
                <a:ea typeface="Noto Sans KR"/>
                <a:cs typeface="Noto Sans KR"/>
              </a:rPr>
              <a:t>모락모락마을</a:t>
            </a:r>
          </a:p>
        </p:txBody>
      </p:sp>
      <p:pic>
        <p:nvPicPr>
          <p:cNvPr id="24" name="Picture 23" descr="찐빵 반죽에 팥소를 넣는 손"/>
          <p:cNvPicPr>
            <a:picLocks noChangeAspect="1"/>
          </p:cNvPicPr>
          <p:nvPr/>
        </p:nvPicPr>
        <p:blipFill>
          <a:blip r:embed="rId5"/>
          <a:srcRect l="16775" r="16775"/>
          <a:stretch>
            <a:fillRect/>
          </a:stretch>
        </p:blipFill>
        <p:spPr>
          <a:xfrm>
            <a:off x="9047805" y="3483864"/>
            <a:ext cx="2501066" cy="2825496"/>
          </a:xfrm>
          <a:prstGeom prst="roundRect">
            <a:avLst>
              <a:gd name="adj" fmla="val 6580"/>
            </a:avLst>
          </a:prstGeom>
        </p:spPr>
      </p:pic>
      <p:sp>
        <p:nvSpPr>
          <p:cNvPr id="25" name="Rounded Rectangle 24"/>
          <p:cNvSpPr/>
          <p:nvPr/>
        </p:nvSpPr>
        <p:spPr>
          <a:xfrm>
            <a:off x="9175821" y="5870448"/>
            <a:ext cx="1217676" cy="310896"/>
          </a:xfrm>
          <a:prstGeom prst="roundRect">
            <a:avLst>
              <a:gd name="adj" fmla="val 50000"/>
            </a:avLst>
          </a:prstGeom>
          <a:solidFill>
            <a:srgbClr val="E3E3E8">
              <a:alpha val="8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75821" y="5870448"/>
            <a:ext cx="121767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eaLnBrk="0" latinLnBrk="0">
              <a:lnSpc>
                <a:spcPct val="100000"/>
              </a:lnSpc>
            </a:pPr>
            <a:r>
              <a:rPr sz="1200" b="1">
                <a:solidFill>
                  <a:srgbClr val="1D1D1F"/>
                </a:solidFill>
                <a:latin typeface="Noto Sans KR"/>
                <a:ea typeface="Noto Sans KR"/>
                <a:cs typeface="Noto Sans KR"/>
              </a:rPr>
              <a:t>팥소 넣어 빚기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48640"/>
            <a:ext cx="121916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eaLnBrk="0" latinLnBrk="0">
              <a:lnSpc>
                <a:spcPct val="125000"/>
              </a:lnSpc>
            </a:pPr>
            <a:r>
              <a:rPr sz="1300" b="1" spc="40">
                <a:solidFill>
                  <a:srgbClr val="1D1D1F"/>
                </a:solidFill>
                <a:latin typeface="Noto Sans KR"/>
                <a:ea typeface="Noto Sans KR"/>
                <a:cs typeface="Noto Sans KR"/>
              </a:rPr>
              <a:t>~ 15:30</a:t>
            </a:r>
            <a:r>
              <a:rPr sz="1300" b="1" spc="40">
                <a:solidFill>
                  <a:srgbClr val="7A7A7A"/>
                </a:solidFill>
                <a:latin typeface="Noto Sans KR"/>
                <a:ea typeface="Noto Sans KR"/>
                <a:cs typeface="Noto Sans KR"/>
              </a:rPr>
              <a:t>   CAFÉ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101687" y="512064"/>
            <a:ext cx="736600" cy="274320"/>
          </a:xfrm>
          <a:prstGeom prst="roundRect">
            <a:avLst>
              <a:gd name="adj" fmla="val 50000"/>
            </a:avLst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01687" y="512064"/>
            <a:ext cx="736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eaLnBrk="0" latinLnBrk="0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옵션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914400"/>
            <a:ext cx="1219169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eaLnBrk="0" latinLnBrk="0">
              <a:lnSpc>
                <a:spcPct val="110000"/>
              </a:lnSpc>
            </a:pPr>
            <a:r>
              <a:rPr sz="4000" b="1" spc="-80">
                <a:solidFill>
                  <a:srgbClr val="1D1D1F"/>
                </a:solidFill>
                <a:latin typeface="Noto Sans KR"/>
                <a:ea typeface="Noto Sans KR"/>
                <a:cs typeface="Noto Sans KR"/>
              </a:rPr>
              <a:t>둔내의 뷰 맛집 카페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1691640"/>
            <a:ext cx="121916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eaLnBrk="0" latinLnBrk="0">
              <a:lnSpc>
                <a:spcPct val="125000"/>
              </a:lnSpc>
            </a:pPr>
            <a:r>
              <a:rPr sz="1700" b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찐빵 대신 느긋하게 쉬고 싶다면, 둔내면의 큰 창이 있는 두 카페 중 한 곳으로.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194560"/>
            <a:ext cx="5318607" cy="4160520"/>
          </a:xfrm>
          <a:prstGeom prst="roundRect">
            <a:avLst>
              <a:gd name="adj" fmla="val 3956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산일리오 카페 전경과 폭포 절벽"/>
          <p:cNvPicPr>
            <a:picLocks noChangeAspect="1"/>
          </p:cNvPicPr>
          <p:nvPr/>
        </p:nvPicPr>
        <p:blipFill>
          <a:blip r:embed="rId2"/>
          <a:srcRect t="54588" b="28121"/>
          <a:stretch>
            <a:fillRect/>
          </a:stretch>
        </p:blipFill>
        <p:spPr>
          <a:xfrm>
            <a:off x="749808" y="2304288"/>
            <a:ext cx="5099151" cy="1581912"/>
          </a:xfrm>
          <a:prstGeom prst="roundRect">
            <a:avLst>
              <a:gd name="adj" fmla="val 6936"/>
            </a:avLst>
          </a:prstGeom>
        </p:spPr>
      </p:pic>
      <p:sp>
        <p:nvSpPr>
          <p:cNvPr id="9" name="Rounded Rectangle 8"/>
          <p:cNvSpPr/>
          <p:nvPr/>
        </p:nvSpPr>
        <p:spPr>
          <a:xfrm>
            <a:off x="896112" y="3429000"/>
            <a:ext cx="1531366" cy="310896"/>
          </a:xfrm>
          <a:prstGeom prst="roundRect">
            <a:avLst>
              <a:gd name="adj" fmla="val 50000"/>
            </a:avLst>
          </a:prstGeom>
          <a:solidFill>
            <a:srgbClr val="E3E3E8">
              <a:alpha val="8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3429000"/>
            <a:ext cx="153136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eaLnBrk="0" latinLnBrk="0">
              <a:lnSpc>
                <a:spcPct val="100000"/>
              </a:lnSpc>
            </a:pPr>
            <a:r>
              <a:rPr sz="1200" b="1">
                <a:solidFill>
                  <a:srgbClr val="1D1D1F"/>
                </a:solidFill>
                <a:latin typeface="Noto Sans KR"/>
                <a:ea typeface="Noto Sans KR"/>
                <a:cs typeface="Noto Sans KR"/>
              </a:rPr>
              <a:t>절벽 위의 카페 전경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4087368"/>
            <a:ext cx="4806543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 latinLnBrk="0">
              <a:lnSpc>
                <a:spcPct val="100000"/>
              </a:lnSpc>
            </a:pPr>
            <a:r>
              <a:rPr sz="1100" b="1" spc="40">
                <a:solidFill>
                  <a:srgbClr val="0066CC"/>
                </a:solidFill>
                <a:latin typeface="Noto Sans KR"/>
                <a:ea typeface="Noto Sans KR"/>
                <a:cs typeface="Noto Sans KR"/>
              </a:rPr>
              <a:t>폭포 · 정원 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4361688"/>
            <a:ext cx="4806543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 latinLnBrk="0">
              <a:lnSpc>
                <a:spcPct val="105000"/>
              </a:lnSpc>
            </a:pPr>
            <a:r>
              <a:rPr sz="2200" b="1" spc="-50">
                <a:solidFill>
                  <a:srgbClr val="1D1D1F"/>
                </a:solidFill>
                <a:latin typeface="Noto Sans KR"/>
                <a:ea typeface="Noto Sans KR"/>
                <a:cs typeface="Noto Sans KR"/>
              </a:rPr>
              <a:t>산일리오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4837176"/>
            <a:ext cx="4806543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 latinLnBrk="0">
              <a:lnSpc>
                <a:spcPct val="140000"/>
              </a:lnSpc>
            </a:pPr>
            <a:r>
              <a:rPr sz="1400" b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절벽과 인공 폭포, 산을 바라보는 통창 카페. 야외 테라스에서도</a:t>
            </a:r>
            <a:br>
              <a:rPr sz="1400"/>
            </a:br>
            <a:r>
              <a:rPr sz="1400" b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쉬어갈 수 있어요.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5641847"/>
            <a:ext cx="4806543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 latinLnBrk="0">
              <a:lnSpc>
                <a:spcPct val="110000"/>
              </a:lnSpc>
            </a:pPr>
            <a:r>
              <a:rPr sz="1100" b="0">
                <a:solidFill>
                  <a:srgbClr val="7A7A7A"/>
                </a:solidFill>
                <a:latin typeface="Noto Sans KR"/>
                <a:ea typeface="Noto Sans KR"/>
                <a:cs typeface="Noto Sans KR"/>
              </a:rPr>
              <a:t>횡성군 둔내면 경강로 5339</a:t>
            </a:r>
          </a:p>
        </p:txBody>
      </p:sp>
      <p:sp>
        <p:nvSpPr>
          <p:cNvPr id="15" name="TextBox 14">
            <a:hlinkClick r:id="rId3"/>
          </p:cNvPr>
          <p:cNvSpPr txBox="1"/>
          <p:nvPr/>
        </p:nvSpPr>
        <p:spPr>
          <a:xfrm>
            <a:off x="896112" y="5897879"/>
            <a:ext cx="480654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 latinLnBrk="0">
              <a:lnSpc>
                <a:spcPct val="100000"/>
              </a:lnSpc>
            </a:pPr>
            <a:r>
              <a:rPr sz="1400" b="0">
                <a:solidFill>
                  <a:srgbClr val="0066CC"/>
                </a:solidFill>
                <a:latin typeface="Noto Sans KR"/>
                <a:ea typeface="Noto Sans KR"/>
                <a:cs typeface="Noto Sans KR"/>
              </a:rPr>
              <a:t>지도 보기 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3007" y="2194560"/>
            <a:ext cx="5318607" cy="4160520"/>
          </a:xfrm>
          <a:prstGeom prst="roundRect">
            <a:avLst>
              <a:gd name="adj" fmla="val 3956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모스트석문 외관"/>
          <p:cNvPicPr>
            <a:picLocks noChangeAspect="1"/>
          </p:cNvPicPr>
          <p:nvPr/>
        </p:nvPicPr>
        <p:blipFill>
          <a:blip r:embed="rId4"/>
          <a:srcRect t="18977" b="18977"/>
          <a:stretch>
            <a:fillRect/>
          </a:stretch>
        </p:blipFill>
        <p:spPr>
          <a:xfrm>
            <a:off x="6342735" y="2304288"/>
            <a:ext cx="5099151" cy="1581912"/>
          </a:xfrm>
          <a:prstGeom prst="roundRect">
            <a:avLst>
              <a:gd name="adj" fmla="val 6936"/>
            </a:avLst>
          </a:prstGeom>
        </p:spPr>
      </p:pic>
      <p:sp>
        <p:nvSpPr>
          <p:cNvPr id="18" name="Rounded Rectangle 17"/>
          <p:cNvSpPr/>
          <p:nvPr/>
        </p:nvSpPr>
        <p:spPr>
          <a:xfrm>
            <a:off x="6489039" y="3429000"/>
            <a:ext cx="1323086" cy="310896"/>
          </a:xfrm>
          <a:prstGeom prst="roundRect">
            <a:avLst>
              <a:gd name="adj" fmla="val 50000"/>
            </a:avLst>
          </a:prstGeom>
          <a:solidFill>
            <a:srgbClr val="E3E3E8">
              <a:alpha val="8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89039" y="3429000"/>
            <a:ext cx="132308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eaLnBrk="0" latinLnBrk="0">
              <a:lnSpc>
                <a:spcPct val="100000"/>
              </a:lnSpc>
            </a:pPr>
            <a:r>
              <a:rPr sz="1200" b="1">
                <a:solidFill>
                  <a:srgbClr val="1D1D1F"/>
                </a:solidFill>
                <a:latin typeface="Noto Sans KR"/>
                <a:ea typeface="Noto Sans KR"/>
                <a:cs typeface="Noto Sans KR"/>
              </a:rPr>
              <a:t>모스트석문 외관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89039" y="4087368"/>
            <a:ext cx="4806543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 latinLnBrk="0">
              <a:lnSpc>
                <a:spcPct val="100000"/>
              </a:lnSpc>
            </a:pPr>
            <a:r>
              <a:rPr sz="1100" b="1" spc="40">
                <a:solidFill>
                  <a:srgbClr val="0066CC"/>
                </a:solidFill>
                <a:latin typeface="Noto Sans KR"/>
                <a:ea typeface="Noto Sans KR"/>
                <a:cs typeface="Noto Sans KR"/>
              </a:rPr>
              <a:t>갤러리형 카페 · 브런치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89039" y="4361688"/>
            <a:ext cx="4806543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 latinLnBrk="0">
              <a:lnSpc>
                <a:spcPct val="105000"/>
              </a:lnSpc>
            </a:pPr>
            <a:r>
              <a:rPr sz="2200" b="1" spc="-50">
                <a:solidFill>
                  <a:srgbClr val="1D1D1F"/>
                </a:solidFill>
                <a:latin typeface="Noto Sans KR"/>
                <a:ea typeface="Noto Sans KR"/>
                <a:cs typeface="Noto Sans KR"/>
              </a:rPr>
              <a:t>모스트석문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89039" y="4837176"/>
            <a:ext cx="4806543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 latinLnBrk="0">
              <a:lnSpc>
                <a:spcPct val="140000"/>
              </a:lnSpc>
            </a:pPr>
            <a:r>
              <a:rPr sz="1400" b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콘크리트 건축과 잔디 정원이 어우러진 넓은 카페. 둘러앉아</a:t>
            </a:r>
            <a:br>
              <a:rPr sz="1400"/>
            </a:br>
            <a:r>
              <a:rPr sz="1400" b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이야기 나누기 좋아요.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89039" y="5641847"/>
            <a:ext cx="4806543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 latinLnBrk="0">
              <a:lnSpc>
                <a:spcPct val="110000"/>
              </a:lnSpc>
            </a:pPr>
            <a:r>
              <a:rPr sz="1100" b="0">
                <a:solidFill>
                  <a:srgbClr val="7A7A7A"/>
                </a:solidFill>
                <a:latin typeface="Noto Sans KR"/>
                <a:ea typeface="Noto Sans KR"/>
                <a:cs typeface="Noto Sans KR"/>
              </a:rPr>
              <a:t>횡성군 둔내면 용현로 199</a:t>
            </a:r>
          </a:p>
        </p:txBody>
      </p:sp>
      <p:sp>
        <p:nvSpPr>
          <p:cNvPr id="24" name="TextBox 23">
            <a:hlinkClick r:id="rId5"/>
          </p:cNvPr>
          <p:cNvSpPr txBox="1"/>
          <p:nvPr/>
        </p:nvSpPr>
        <p:spPr>
          <a:xfrm>
            <a:off x="6489039" y="5897879"/>
            <a:ext cx="480654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 latinLnBrk="0">
              <a:lnSpc>
                <a:spcPct val="100000"/>
              </a:lnSpc>
            </a:pPr>
            <a:r>
              <a:rPr sz="1400" b="0">
                <a:solidFill>
                  <a:srgbClr val="0066CC"/>
                </a:solidFill>
                <a:latin typeface="Noto Sans KR"/>
                <a:ea typeface="Noto Sans KR"/>
                <a:cs typeface="Noto Sans KR"/>
              </a:rPr>
              <a:t>지도 보기 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0" y="6510528"/>
            <a:ext cx="1219169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eaLnBrk="0" latinLnBrk="0">
              <a:lnSpc>
                <a:spcPct val="100000"/>
              </a:lnSpc>
            </a:pPr>
            <a:r>
              <a:rPr sz="1200" b="0">
                <a:solidFill>
                  <a:srgbClr val="7A7A7A"/>
                </a:solidFill>
                <a:latin typeface="Noto Sans KR"/>
                <a:ea typeface="Noto Sans KR"/>
                <a:cs typeface="Noto Sans KR"/>
              </a:rPr>
              <a:t>15:30 ~  귀가 — 횡성 출발 → 본부 · 시흥 도착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943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 latinLnBrk="0">
              <a:lnSpc>
                <a:spcPct val="125000"/>
              </a:lnSpc>
            </a:pPr>
            <a:r>
              <a:rPr sz="1300" b="1" spc="60">
                <a:solidFill>
                  <a:srgbClr val="7A7A7A"/>
                </a:solidFill>
                <a:latin typeface="Noto Sans KR"/>
                <a:ea typeface="Noto Sans KR"/>
                <a:cs typeface="Noto Sans KR"/>
              </a:rPr>
              <a:t>AT A GLANCE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8229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 latinLnBrk="0">
              <a:lnSpc>
                <a:spcPct val="110000"/>
              </a:lnSpc>
            </a:pPr>
            <a:r>
              <a:rPr sz="3600" b="1" spc="-70">
                <a:solidFill>
                  <a:srgbClr val="1D1D1F"/>
                </a:solidFill>
                <a:latin typeface="Noto Sans KR"/>
                <a:ea typeface="Noto Sans KR"/>
                <a:cs typeface="Noto Sans KR"/>
              </a:rPr>
              <a:t>전체 일정 한눈에 보기</a:t>
            </a:r>
            <a:r>
              <a:rPr sz="2000" b="0" spc="-70">
                <a:solidFill>
                  <a:srgbClr val="7A7A7A"/>
                </a:solidFill>
                <a:latin typeface="Noto Sans KR"/>
                <a:ea typeface="Noto Sans KR"/>
                <a:cs typeface="Noto Sans KR"/>
              </a:rPr>
              <a:t>    DAY 1  11.12 (목)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920240"/>
            <a:ext cx="5295747" cy="4572000"/>
          </a:xfrm>
          <a:prstGeom prst="roundRect">
            <a:avLst>
              <a:gd name="adj" fmla="val 3599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868680" cy="8595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eaLnBrk="0" latinLnBrk="0">
              <a:lnSpc>
                <a:spcPct val="100000"/>
              </a:lnSpc>
            </a:pPr>
            <a:r>
              <a:rPr sz="1500" b="1">
                <a:solidFill>
                  <a:srgbClr val="0066CC"/>
                </a:solidFill>
                <a:latin typeface="Noto Sans KR"/>
                <a:ea typeface="Noto Sans KR"/>
                <a:cs typeface="Noto Sans KR"/>
              </a:rPr>
              <a:t>08:00</a:t>
            </a:r>
          </a:p>
        </p:txBody>
      </p:sp>
      <p:sp>
        <p:nvSpPr>
          <p:cNvPr id="6" name="Oval 5"/>
          <p:cNvSpPr/>
          <p:nvPr/>
        </p:nvSpPr>
        <p:spPr>
          <a:xfrm>
            <a:off x="1828800" y="2157984"/>
            <a:ext cx="566928" cy="566928"/>
          </a:xfrm>
          <a:prstGeom prst="ellipse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2157984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eaLnBrk="0" latinLnBrk="0">
              <a:lnSpc>
                <a:spcPct val="100000"/>
              </a:lnSpc>
            </a:pPr>
            <a:r>
              <a:rPr sz="1400" b="1">
                <a:solidFill>
                  <a:srgbClr val="7A7A7A"/>
                </a:solidFill>
                <a:latin typeface="Noto Sans KR"/>
                <a:ea typeface="Noto Sans KR"/>
                <a:cs typeface="Noto Sans KR"/>
              </a:rPr>
              <a:t>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06039" y="2167128"/>
            <a:ext cx="3055467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eaLnBrk="0" latinLnBrk="0">
              <a:lnSpc>
                <a:spcPct val="120000"/>
              </a:lnSpc>
            </a:pPr>
            <a:r>
              <a:rPr sz="1600" b="1">
                <a:solidFill>
                  <a:srgbClr val="1D1D1F"/>
                </a:solidFill>
                <a:latin typeface="Noto Sans KR"/>
                <a:ea typeface="Noto Sans KR"/>
                <a:cs typeface="Noto Sans KR"/>
              </a:rPr>
              <a:t>횡성으로 이동</a:t>
            </a:r>
          </a:p>
          <a:p>
            <a:pPr algn="l" eaLnBrk="0" latinLnBrk="0">
              <a:lnSpc>
                <a:spcPct val="120000"/>
              </a:lnSpc>
            </a:pPr>
            <a:r>
              <a:rPr sz="1200" b="0">
                <a:solidFill>
                  <a:srgbClr val="7A7A7A"/>
                </a:solidFill>
                <a:latin typeface="Noto Sans KR"/>
                <a:ea typeface="Noto Sans KR"/>
                <a:cs typeface="Noto Sans KR"/>
              </a:rPr>
              <a:t>본부 · 시흥 출발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2871216"/>
            <a:ext cx="4747107" cy="9144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871216"/>
            <a:ext cx="868680" cy="8595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eaLnBrk="0" latinLnBrk="0">
              <a:lnSpc>
                <a:spcPct val="100000"/>
              </a:lnSpc>
            </a:pPr>
            <a:r>
              <a:rPr sz="1500" b="1">
                <a:solidFill>
                  <a:srgbClr val="0066CC"/>
                </a:solidFill>
                <a:latin typeface="Noto Sans KR"/>
                <a:ea typeface="Noto Sans KR"/>
                <a:cs typeface="Noto Sans KR"/>
              </a:rPr>
              <a:t>11:00</a:t>
            </a:r>
          </a:p>
        </p:txBody>
      </p:sp>
      <p:pic>
        <p:nvPicPr>
          <p:cNvPr id="11" name="Picture 10" descr="풍수원성당"/>
          <p:cNvPicPr>
            <a:picLocks noChangeAspect="1"/>
          </p:cNvPicPr>
          <p:nvPr/>
        </p:nvPicPr>
        <p:blipFill>
          <a:blip r:embed="rId2"/>
          <a:srcRect t="12500" b="12500"/>
          <a:stretch>
            <a:fillRect/>
          </a:stretch>
        </p:blipFill>
        <p:spPr>
          <a:xfrm>
            <a:off x="1828800" y="3017520"/>
            <a:ext cx="566928" cy="566928"/>
          </a:xfrm>
          <a:prstGeom prst="roundRect">
            <a:avLst>
              <a:gd name="adj" fmla="val 50000"/>
            </a:avLst>
          </a:prstGeom>
        </p:spPr>
      </p:pic>
      <p:sp>
        <p:nvSpPr>
          <p:cNvPr id="12" name="TextBox 11"/>
          <p:cNvSpPr txBox="1"/>
          <p:nvPr/>
        </p:nvSpPr>
        <p:spPr>
          <a:xfrm>
            <a:off x="2606039" y="3026664"/>
            <a:ext cx="3055467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eaLnBrk="0" latinLnBrk="0">
              <a:lnSpc>
                <a:spcPct val="120000"/>
              </a:lnSpc>
            </a:pPr>
            <a:r>
              <a:rPr sz="1600" b="1">
                <a:solidFill>
                  <a:srgbClr val="1D1D1F"/>
                </a:solidFill>
                <a:latin typeface="Noto Sans KR"/>
                <a:ea typeface="Noto Sans KR"/>
                <a:cs typeface="Noto Sans KR"/>
              </a:rPr>
              <a:t>풍수원성당</a:t>
            </a:r>
          </a:p>
          <a:p>
            <a:pPr algn="l" eaLnBrk="0" latinLnBrk="0">
              <a:lnSpc>
                <a:spcPct val="120000"/>
              </a:lnSpc>
            </a:pPr>
            <a:r>
              <a:rPr sz="1200" b="0">
                <a:solidFill>
                  <a:srgbClr val="7A7A7A"/>
                </a:solidFill>
                <a:latin typeface="Noto Sans KR"/>
                <a:ea typeface="Noto Sans KR"/>
                <a:cs typeface="Noto Sans KR"/>
              </a:rPr>
              <a:t>팀빌딩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3730752"/>
            <a:ext cx="4747107" cy="9144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730752"/>
            <a:ext cx="868680" cy="8595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eaLnBrk="0" latinLnBrk="0">
              <a:lnSpc>
                <a:spcPct val="100000"/>
              </a:lnSpc>
            </a:pPr>
            <a:r>
              <a:rPr sz="1500" b="1">
                <a:solidFill>
                  <a:srgbClr val="0066CC"/>
                </a:solidFill>
                <a:latin typeface="Noto Sans KR"/>
                <a:ea typeface="Noto Sans KR"/>
                <a:cs typeface="Noto Sans KR"/>
              </a:rPr>
              <a:t>12:30</a:t>
            </a:r>
          </a:p>
        </p:txBody>
      </p:sp>
      <p:pic>
        <p:nvPicPr>
          <p:cNvPr id="15" name="Picture 14" descr="점심 · 지은네식당"/>
          <p:cNvPicPr>
            <a:picLocks noChangeAspect="1"/>
          </p:cNvPicPr>
          <p:nvPr/>
        </p:nvPicPr>
        <p:blipFill>
          <a:blip r:embed="rId3"/>
          <a:srcRect l="278" r="278"/>
          <a:stretch>
            <a:fillRect/>
          </a:stretch>
        </p:blipFill>
        <p:spPr>
          <a:xfrm>
            <a:off x="1828800" y="3877056"/>
            <a:ext cx="566928" cy="566928"/>
          </a:xfrm>
          <a:prstGeom prst="roundRect">
            <a:avLst>
              <a:gd name="adj" fmla="val 50000"/>
            </a:avLst>
          </a:prstGeom>
        </p:spPr>
      </p:pic>
      <p:sp>
        <p:nvSpPr>
          <p:cNvPr id="16" name="TextBox 15"/>
          <p:cNvSpPr txBox="1"/>
          <p:nvPr/>
        </p:nvSpPr>
        <p:spPr>
          <a:xfrm>
            <a:off x="2606039" y="3886200"/>
            <a:ext cx="3055467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eaLnBrk="0" latinLnBrk="0">
              <a:lnSpc>
                <a:spcPct val="120000"/>
              </a:lnSpc>
            </a:pPr>
            <a:r>
              <a:rPr sz="1600" b="1">
                <a:solidFill>
                  <a:srgbClr val="1D1D1F"/>
                </a:solidFill>
                <a:latin typeface="Noto Sans KR"/>
                <a:ea typeface="Noto Sans KR"/>
                <a:cs typeface="Noto Sans KR"/>
              </a:rPr>
              <a:t>점심 · 지은네식당</a:t>
            </a:r>
          </a:p>
          <a:p>
            <a:pPr algn="l" eaLnBrk="0" latinLnBrk="0">
              <a:lnSpc>
                <a:spcPct val="120000"/>
              </a:lnSpc>
            </a:pPr>
            <a:r>
              <a:rPr sz="1200" b="0">
                <a:solidFill>
                  <a:srgbClr val="7A7A7A"/>
                </a:solidFill>
                <a:latin typeface="Noto Sans KR"/>
                <a:ea typeface="Noto Sans KR"/>
                <a:cs typeface="Noto Sans KR"/>
              </a:rPr>
              <a:t>돌솥두부정식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4590288"/>
            <a:ext cx="4747107" cy="9144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0288"/>
            <a:ext cx="868680" cy="8595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eaLnBrk="0" latinLnBrk="0">
              <a:lnSpc>
                <a:spcPct val="100000"/>
              </a:lnSpc>
            </a:pPr>
            <a:r>
              <a:rPr sz="1500" b="1">
                <a:solidFill>
                  <a:srgbClr val="0066CC"/>
                </a:solidFill>
                <a:latin typeface="Noto Sans KR"/>
                <a:ea typeface="Noto Sans KR"/>
                <a:cs typeface="Noto Sans KR"/>
              </a:rPr>
              <a:t>13:40</a:t>
            </a:r>
          </a:p>
        </p:txBody>
      </p:sp>
      <p:pic>
        <p:nvPicPr>
          <p:cNvPr id="19" name="Picture 18" descr="횡성루지체험장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828800" y="4736592"/>
            <a:ext cx="566928" cy="566928"/>
          </a:xfrm>
          <a:prstGeom prst="roundRect">
            <a:avLst>
              <a:gd name="adj" fmla="val 50000"/>
            </a:avLst>
          </a:prstGeom>
        </p:spPr>
      </p:pic>
      <p:sp>
        <p:nvSpPr>
          <p:cNvPr id="20" name="TextBox 19"/>
          <p:cNvSpPr txBox="1"/>
          <p:nvPr/>
        </p:nvSpPr>
        <p:spPr>
          <a:xfrm>
            <a:off x="2606039" y="4745736"/>
            <a:ext cx="3055467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eaLnBrk="0" latinLnBrk="0">
              <a:lnSpc>
                <a:spcPct val="120000"/>
              </a:lnSpc>
            </a:pPr>
            <a:r>
              <a:rPr sz="1600" b="1">
                <a:solidFill>
                  <a:srgbClr val="1D1D1F"/>
                </a:solidFill>
                <a:latin typeface="Noto Sans KR"/>
                <a:ea typeface="Noto Sans KR"/>
                <a:cs typeface="Noto Sans KR"/>
              </a:rPr>
              <a:t>횡성루지체험장</a:t>
            </a:r>
          </a:p>
          <a:p>
            <a:pPr algn="l" eaLnBrk="0" latinLnBrk="0">
              <a:lnSpc>
                <a:spcPct val="120000"/>
              </a:lnSpc>
            </a:pPr>
            <a:r>
              <a:rPr sz="1200" b="0">
                <a:solidFill>
                  <a:srgbClr val="7A7A7A"/>
                </a:solidFill>
                <a:latin typeface="Noto Sans KR"/>
                <a:ea typeface="Noto Sans KR"/>
                <a:cs typeface="Noto Sans KR"/>
              </a:rPr>
              <a:t>팀빌딩 · 루지 2회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" y="5449824"/>
            <a:ext cx="4747107" cy="9144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5449824"/>
            <a:ext cx="868680" cy="8595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eaLnBrk="0" latinLnBrk="0">
              <a:lnSpc>
                <a:spcPct val="100000"/>
              </a:lnSpc>
            </a:pPr>
            <a:r>
              <a:rPr sz="1500" b="1">
                <a:solidFill>
                  <a:srgbClr val="0066CC"/>
                </a:solidFill>
                <a:latin typeface="Noto Sans KR"/>
                <a:ea typeface="Noto Sans KR"/>
                <a:cs typeface="Noto Sans KR"/>
              </a:rPr>
              <a:t>14:50</a:t>
            </a:r>
          </a:p>
        </p:txBody>
      </p:sp>
      <p:pic>
        <p:nvPicPr>
          <p:cNvPr id="23" name="Picture 22" descr="장보기"/>
          <p:cNvPicPr>
            <a:picLocks noChangeAspect="1"/>
          </p:cNvPicPr>
          <p:nvPr/>
        </p:nvPicPr>
        <p:blipFill>
          <a:blip r:embed="rId5"/>
          <a:srcRect l="12500" r="12500"/>
          <a:stretch>
            <a:fillRect/>
          </a:stretch>
        </p:blipFill>
        <p:spPr>
          <a:xfrm>
            <a:off x="1828800" y="5596128"/>
            <a:ext cx="566928" cy="566928"/>
          </a:xfrm>
          <a:prstGeom prst="roundRect">
            <a:avLst>
              <a:gd name="adj" fmla="val 50000"/>
            </a:avLst>
          </a:prstGeom>
        </p:spPr>
      </p:pic>
      <p:sp>
        <p:nvSpPr>
          <p:cNvPr id="24" name="TextBox 23"/>
          <p:cNvSpPr txBox="1"/>
          <p:nvPr/>
        </p:nvSpPr>
        <p:spPr>
          <a:xfrm>
            <a:off x="2606039" y="5605272"/>
            <a:ext cx="3055467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eaLnBrk="0" latinLnBrk="0">
              <a:lnSpc>
                <a:spcPct val="120000"/>
              </a:lnSpc>
            </a:pPr>
            <a:r>
              <a:rPr sz="1600" b="1">
                <a:solidFill>
                  <a:srgbClr val="1D1D1F"/>
                </a:solidFill>
                <a:latin typeface="Noto Sans KR"/>
                <a:ea typeface="Noto Sans KR"/>
                <a:cs typeface="Noto Sans KR"/>
              </a:rPr>
              <a:t>장보기</a:t>
            </a:r>
          </a:p>
          <a:p>
            <a:pPr algn="l" eaLnBrk="0" latinLnBrk="0">
              <a:lnSpc>
                <a:spcPct val="120000"/>
              </a:lnSpc>
            </a:pPr>
            <a:r>
              <a:rPr sz="1200" b="0">
                <a:solidFill>
                  <a:srgbClr val="7A7A7A"/>
                </a:solidFill>
                <a:latin typeface="Noto Sans KR"/>
                <a:ea typeface="Noto Sans KR"/>
                <a:cs typeface="Noto Sans KR"/>
              </a:rPr>
              <a:t>하나로마트 동횡성농협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55867" y="1920240"/>
            <a:ext cx="5295747" cy="4572000"/>
          </a:xfrm>
          <a:prstGeom prst="roundRect">
            <a:avLst>
              <a:gd name="adj" fmla="val 3599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30187" y="2011680"/>
            <a:ext cx="868680" cy="8595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eaLnBrk="0" latinLnBrk="0">
              <a:lnSpc>
                <a:spcPct val="100000"/>
              </a:lnSpc>
            </a:pPr>
            <a:r>
              <a:rPr sz="1500" b="1">
                <a:solidFill>
                  <a:srgbClr val="0066CC"/>
                </a:solidFill>
                <a:latin typeface="Noto Sans KR"/>
                <a:ea typeface="Noto Sans KR"/>
                <a:cs typeface="Noto Sans KR"/>
              </a:rPr>
              <a:t>15:40</a:t>
            </a:r>
          </a:p>
        </p:txBody>
      </p:sp>
      <p:pic>
        <p:nvPicPr>
          <p:cNvPr id="27" name="Picture 26" descr="카페 (택 1)"/>
          <p:cNvPicPr>
            <a:picLocks noChangeAspect="1"/>
          </p:cNvPicPr>
          <p:nvPr/>
        </p:nvPicPr>
        <p:blipFill>
          <a:blip r:embed="rId6"/>
          <a:srcRect t="12500" b="12500"/>
          <a:stretch>
            <a:fillRect/>
          </a:stretch>
        </p:blipFill>
        <p:spPr>
          <a:xfrm>
            <a:off x="7444587" y="2157984"/>
            <a:ext cx="566928" cy="566928"/>
          </a:xfrm>
          <a:prstGeom prst="roundRect">
            <a:avLst>
              <a:gd name="adj" fmla="val 50000"/>
            </a:avLst>
          </a:prstGeom>
        </p:spPr>
      </p:pic>
      <p:sp>
        <p:nvSpPr>
          <p:cNvPr id="28" name="TextBox 27"/>
          <p:cNvSpPr txBox="1"/>
          <p:nvPr/>
        </p:nvSpPr>
        <p:spPr>
          <a:xfrm>
            <a:off x="8221827" y="2167128"/>
            <a:ext cx="3055467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eaLnBrk="0" latinLnBrk="0">
              <a:lnSpc>
                <a:spcPct val="120000"/>
              </a:lnSpc>
            </a:pPr>
            <a:r>
              <a:rPr sz="1600" b="1">
                <a:solidFill>
                  <a:srgbClr val="1D1D1F"/>
                </a:solidFill>
                <a:latin typeface="Noto Sans KR"/>
                <a:ea typeface="Noto Sans KR"/>
                <a:cs typeface="Noto Sans KR"/>
              </a:rPr>
              <a:t>카페 (택 1)</a:t>
            </a:r>
          </a:p>
          <a:p>
            <a:pPr algn="l" eaLnBrk="0" latinLnBrk="0">
              <a:lnSpc>
                <a:spcPct val="120000"/>
              </a:lnSpc>
            </a:pPr>
            <a:r>
              <a:rPr sz="1200" b="0">
                <a:solidFill>
                  <a:srgbClr val="7A7A7A"/>
                </a:solidFill>
                <a:latin typeface="Noto Sans KR"/>
                <a:ea typeface="Noto Sans KR"/>
                <a:cs typeface="Noto Sans KR"/>
              </a:rPr>
              <a:t>타이페이909 · 호수길133 · 코티지생운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30187" y="2871216"/>
            <a:ext cx="4747107" cy="9144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30187" y="2871216"/>
            <a:ext cx="868680" cy="8595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eaLnBrk="0" latinLnBrk="0">
              <a:lnSpc>
                <a:spcPct val="100000"/>
              </a:lnSpc>
            </a:pPr>
            <a:r>
              <a:rPr sz="1500" b="1">
                <a:solidFill>
                  <a:srgbClr val="0066CC"/>
                </a:solidFill>
                <a:latin typeface="Noto Sans KR"/>
                <a:ea typeface="Noto Sans KR"/>
                <a:cs typeface="Noto Sans KR"/>
              </a:rPr>
              <a:t>17:30</a:t>
            </a:r>
          </a:p>
        </p:txBody>
      </p:sp>
      <p:pic>
        <p:nvPicPr>
          <p:cNvPr id="31" name="Picture 30" descr="숙소 체크인 · 정비"/>
          <p:cNvPicPr>
            <a:picLocks noChangeAspect="1"/>
          </p:cNvPicPr>
          <p:nvPr/>
        </p:nvPicPr>
        <p:blipFill>
          <a:blip r:embed="rId7"/>
          <a:srcRect l="12500" r="12500"/>
          <a:stretch>
            <a:fillRect/>
          </a:stretch>
        </p:blipFill>
        <p:spPr>
          <a:xfrm>
            <a:off x="7444587" y="3017520"/>
            <a:ext cx="566928" cy="566928"/>
          </a:xfrm>
          <a:prstGeom prst="roundRect">
            <a:avLst>
              <a:gd name="adj" fmla="val 50000"/>
            </a:avLst>
          </a:prstGeom>
        </p:spPr>
      </p:pic>
      <p:sp>
        <p:nvSpPr>
          <p:cNvPr id="32" name="TextBox 31"/>
          <p:cNvSpPr txBox="1"/>
          <p:nvPr/>
        </p:nvSpPr>
        <p:spPr>
          <a:xfrm>
            <a:off x="8221827" y="3026664"/>
            <a:ext cx="3055467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eaLnBrk="0" latinLnBrk="0">
              <a:lnSpc>
                <a:spcPct val="120000"/>
              </a:lnSpc>
            </a:pPr>
            <a:r>
              <a:rPr sz="1600" b="1">
                <a:solidFill>
                  <a:srgbClr val="1D1D1F"/>
                </a:solidFill>
                <a:latin typeface="Noto Sans KR"/>
                <a:ea typeface="Noto Sans KR"/>
                <a:cs typeface="Noto Sans KR"/>
              </a:rPr>
              <a:t>숙소 체크인 · 정비</a:t>
            </a:r>
          </a:p>
          <a:p>
            <a:pPr algn="l" eaLnBrk="0" latinLnBrk="0">
              <a:lnSpc>
                <a:spcPct val="120000"/>
              </a:lnSpc>
            </a:pPr>
            <a:r>
              <a:rPr sz="1200" b="0">
                <a:solidFill>
                  <a:srgbClr val="7A7A7A"/>
                </a:solidFill>
                <a:latin typeface="Noto Sans KR"/>
                <a:ea typeface="Noto Sans KR"/>
                <a:cs typeface="Noto Sans KR"/>
              </a:rPr>
              <a:t>호숫길펜션 구방리518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30187" y="3730752"/>
            <a:ext cx="4747107" cy="9144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30187" y="3730752"/>
            <a:ext cx="868680" cy="8595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eaLnBrk="0" latinLnBrk="0">
              <a:lnSpc>
                <a:spcPct val="100000"/>
              </a:lnSpc>
            </a:pPr>
            <a:r>
              <a:rPr sz="1500" b="1">
                <a:solidFill>
                  <a:srgbClr val="0066CC"/>
                </a:solidFill>
                <a:latin typeface="Noto Sans KR"/>
                <a:ea typeface="Noto Sans KR"/>
                <a:cs typeface="Noto Sans KR"/>
              </a:rPr>
              <a:t>18:00</a:t>
            </a:r>
          </a:p>
        </p:txBody>
      </p:sp>
      <p:pic>
        <p:nvPicPr>
          <p:cNvPr id="35" name="Picture 34" descr="저녁 · 바베큐"/>
          <p:cNvPicPr>
            <a:picLocks noChangeAspect="1"/>
          </p:cNvPicPr>
          <p:nvPr/>
        </p:nvPicPr>
        <p:blipFill>
          <a:blip r:embed="rId8"/>
          <a:srcRect l="12500" r="12500"/>
          <a:stretch>
            <a:fillRect/>
          </a:stretch>
        </p:blipFill>
        <p:spPr>
          <a:xfrm>
            <a:off x="7444587" y="3877056"/>
            <a:ext cx="566928" cy="566928"/>
          </a:xfrm>
          <a:prstGeom prst="roundRect">
            <a:avLst>
              <a:gd name="adj" fmla="val 50000"/>
            </a:avLst>
          </a:prstGeom>
        </p:spPr>
      </p:pic>
      <p:sp>
        <p:nvSpPr>
          <p:cNvPr id="36" name="TextBox 35"/>
          <p:cNvSpPr txBox="1"/>
          <p:nvPr/>
        </p:nvSpPr>
        <p:spPr>
          <a:xfrm>
            <a:off x="8221827" y="3886200"/>
            <a:ext cx="3055467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eaLnBrk="0" latinLnBrk="0">
              <a:lnSpc>
                <a:spcPct val="120000"/>
              </a:lnSpc>
            </a:pPr>
            <a:r>
              <a:rPr sz="1600" b="1">
                <a:solidFill>
                  <a:srgbClr val="1D1D1F"/>
                </a:solidFill>
                <a:latin typeface="Noto Sans KR"/>
                <a:ea typeface="Noto Sans KR"/>
                <a:cs typeface="Noto Sans KR"/>
              </a:rPr>
              <a:t>저녁 · 바베큐</a:t>
            </a:r>
          </a:p>
          <a:p>
            <a:pPr algn="l" eaLnBrk="0" latinLnBrk="0">
              <a:lnSpc>
                <a:spcPct val="120000"/>
              </a:lnSpc>
            </a:pPr>
            <a:r>
              <a:rPr sz="1200" b="0">
                <a:solidFill>
                  <a:srgbClr val="7A7A7A"/>
                </a:solidFill>
                <a:latin typeface="Noto Sans KR"/>
                <a:ea typeface="Noto Sans KR"/>
                <a:cs typeface="Noto Sans KR"/>
              </a:rPr>
              <a:t>숙소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30187" y="4590288"/>
            <a:ext cx="4747107" cy="9144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30187" y="4590288"/>
            <a:ext cx="868680" cy="8595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eaLnBrk="0" latinLnBrk="0">
              <a:lnSpc>
                <a:spcPct val="100000"/>
              </a:lnSpc>
            </a:pPr>
            <a:r>
              <a:rPr sz="1500" b="1">
                <a:solidFill>
                  <a:srgbClr val="0066CC"/>
                </a:solidFill>
                <a:latin typeface="Noto Sans KR"/>
                <a:ea typeface="Noto Sans KR"/>
                <a:cs typeface="Noto Sans KR"/>
              </a:rPr>
              <a:t>20:00</a:t>
            </a:r>
          </a:p>
        </p:txBody>
      </p:sp>
      <p:sp>
        <p:nvSpPr>
          <p:cNvPr id="39" name="Oval 38"/>
          <p:cNvSpPr/>
          <p:nvPr/>
        </p:nvSpPr>
        <p:spPr>
          <a:xfrm>
            <a:off x="7444587" y="4736592"/>
            <a:ext cx="566928" cy="566928"/>
          </a:xfrm>
          <a:prstGeom prst="ellipse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444587" y="4736592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eaLnBrk="0" latinLnBrk="0">
              <a:lnSpc>
                <a:spcPct val="100000"/>
              </a:lnSpc>
            </a:pPr>
            <a:r>
              <a:rPr sz="1400" b="1">
                <a:solidFill>
                  <a:srgbClr val="7A7A7A"/>
                </a:solidFill>
                <a:latin typeface="Noto Sans KR"/>
                <a:ea typeface="Noto Sans KR"/>
                <a:cs typeface="Noto Sans KR"/>
              </a:rPr>
              <a:t>★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1827" y="4745736"/>
            <a:ext cx="3055467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eaLnBrk="0" latinLnBrk="0">
              <a:lnSpc>
                <a:spcPct val="120000"/>
              </a:lnSpc>
            </a:pPr>
            <a:r>
              <a:rPr sz="1600" b="1">
                <a:solidFill>
                  <a:srgbClr val="1D1D1F"/>
                </a:solidFill>
                <a:latin typeface="Noto Sans KR"/>
                <a:ea typeface="Noto Sans KR"/>
                <a:cs typeface="Noto Sans KR"/>
              </a:rPr>
              <a:t>레크리에이션</a:t>
            </a:r>
          </a:p>
          <a:p>
            <a:pPr algn="l" eaLnBrk="0" latinLnBrk="0">
              <a:lnSpc>
                <a:spcPct val="120000"/>
              </a:lnSpc>
            </a:pPr>
            <a:r>
              <a:rPr sz="1200" b="0">
                <a:solidFill>
                  <a:srgbClr val="7A7A7A"/>
                </a:solidFill>
                <a:latin typeface="Noto Sans KR"/>
                <a:ea typeface="Noto Sans KR"/>
                <a:cs typeface="Noto Sans KR"/>
              </a:rPr>
              <a:t>마니또 · 퀴즈 · 팀전 · 보드게임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30187" y="5449824"/>
            <a:ext cx="4747107" cy="9144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30187" y="5449824"/>
            <a:ext cx="868680" cy="8595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eaLnBrk="0" latinLnBrk="0">
              <a:lnSpc>
                <a:spcPct val="100000"/>
              </a:lnSpc>
            </a:pPr>
            <a:r>
              <a:rPr sz="1500" b="1">
                <a:solidFill>
                  <a:srgbClr val="0066CC"/>
                </a:solidFill>
                <a:latin typeface="Noto Sans KR"/>
                <a:ea typeface="Noto Sans KR"/>
                <a:cs typeface="Noto Sans KR"/>
              </a:rPr>
              <a:t>22:30</a:t>
            </a:r>
          </a:p>
        </p:txBody>
      </p:sp>
      <p:pic>
        <p:nvPicPr>
          <p:cNvPr id="44" name="Picture 43" descr="취침 · 자유시간"/>
          <p:cNvPicPr>
            <a:picLocks noChangeAspect="1"/>
          </p:cNvPicPr>
          <p:nvPr/>
        </p:nvPicPr>
        <p:blipFill>
          <a:blip r:embed="rId9"/>
          <a:srcRect t="21926" b="21926"/>
          <a:stretch>
            <a:fillRect/>
          </a:stretch>
        </p:blipFill>
        <p:spPr>
          <a:xfrm>
            <a:off x="7444587" y="5596128"/>
            <a:ext cx="566928" cy="566928"/>
          </a:xfrm>
          <a:prstGeom prst="roundRect">
            <a:avLst>
              <a:gd name="adj" fmla="val 50000"/>
            </a:avLst>
          </a:prstGeom>
        </p:spPr>
      </p:pic>
      <p:sp>
        <p:nvSpPr>
          <p:cNvPr id="45" name="TextBox 44"/>
          <p:cNvSpPr txBox="1"/>
          <p:nvPr/>
        </p:nvSpPr>
        <p:spPr>
          <a:xfrm>
            <a:off x="8221827" y="5605272"/>
            <a:ext cx="3055467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eaLnBrk="0" latinLnBrk="0">
              <a:lnSpc>
                <a:spcPct val="120000"/>
              </a:lnSpc>
            </a:pPr>
            <a:r>
              <a:rPr sz="1600" b="1">
                <a:solidFill>
                  <a:srgbClr val="1D1D1F"/>
                </a:solidFill>
                <a:latin typeface="Noto Sans KR"/>
                <a:ea typeface="Noto Sans KR"/>
                <a:cs typeface="Noto Sans KR"/>
              </a:rPr>
              <a:t>취침 · 자유시간</a:t>
            </a:r>
          </a:p>
          <a:p>
            <a:pPr algn="l" eaLnBrk="0" latinLnBrk="0">
              <a:lnSpc>
                <a:spcPct val="120000"/>
              </a:lnSpc>
            </a:pPr>
            <a:r>
              <a:rPr sz="1200" b="0">
                <a:solidFill>
                  <a:srgbClr val="7A7A7A"/>
                </a:solidFill>
                <a:latin typeface="Noto Sans KR"/>
                <a:ea typeface="Noto Sans KR"/>
                <a:cs typeface="Noto Sans KR"/>
              </a:rPr>
              <a:t>불멍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943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 latinLnBrk="0">
              <a:lnSpc>
                <a:spcPct val="125000"/>
              </a:lnSpc>
            </a:pPr>
            <a:r>
              <a:rPr sz="1300" b="1" spc="60">
                <a:solidFill>
                  <a:srgbClr val="7A7A7A"/>
                </a:solidFill>
                <a:latin typeface="Noto Sans KR"/>
                <a:ea typeface="Noto Sans KR"/>
                <a:cs typeface="Noto Sans KR"/>
              </a:rPr>
              <a:t>AT A GLANCE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8229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 latinLnBrk="0">
              <a:lnSpc>
                <a:spcPct val="110000"/>
              </a:lnSpc>
            </a:pPr>
            <a:r>
              <a:rPr sz="3600" b="1" spc="-70">
                <a:solidFill>
                  <a:srgbClr val="1D1D1F"/>
                </a:solidFill>
                <a:latin typeface="Noto Sans KR"/>
                <a:ea typeface="Noto Sans KR"/>
                <a:cs typeface="Noto Sans KR"/>
              </a:rPr>
              <a:t>전체 일정 한눈에 보기</a:t>
            </a:r>
            <a:r>
              <a:rPr sz="2000" b="0" spc="-70">
                <a:solidFill>
                  <a:srgbClr val="7A7A7A"/>
                </a:solidFill>
                <a:latin typeface="Noto Sans KR"/>
                <a:ea typeface="Noto Sans KR"/>
                <a:cs typeface="Noto Sans KR"/>
              </a:rPr>
              <a:t>    DAY 2  11.13 (금)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920240"/>
            <a:ext cx="5295747" cy="4572000"/>
          </a:xfrm>
          <a:prstGeom prst="roundRect">
            <a:avLst>
              <a:gd name="adj" fmla="val 3599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868680" cy="10744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eaLnBrk="0" latinLnBrk="0">
              <a:lnSpc>
                <a:spcPct val="100000"/>
              </a:lnSpc>
            </a:pPr>
            <a:r>
              <a:rPr sz="1500" b="1">
                <a:solidFill>
                  <a:srgbClr val="0066CC"/>
                </a:solidFill>
                <a:latin typeface="Noto Sans KR"/>
                <a:ea typeface="Noto Sans KR"/>
                <a:cs typeface="Noto Sans KR"/>
              </a:rPr>
              <a:t>07:00</a:t>
            </a:r>
          </a:p>
        </p:txBody>
      </p:sp>
      <p:sp>
        <p:nvSpPr>
          <p:cNvPr id="6" name="Oval 5"/>
          <p:cNvSpPr/>
          <p:nvPr/>
        </p:nvSpPr>
        <p:spPr>
          <a:xfrm>
            <a:off x="1828800" y="2265426"/>
            <a:ext cx="566928" cy="566928"/>
          </a:xfrm>
          <a:prstGeom prst="ellipse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2265426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eaLnBrk="0" latinLnBrk="0">
              <a:lnSpc>
                <a:spcPct val="100000"/>
              </a:lnSpc>
            </a:pPr>
            <a:r>
              <a:rPr sz="1400" b="1">
                <a:solidFill>
                  <a:srgbClr val="7A7A7A"/>
                </a:solidFill>
                <a:latin typeface="Noto Sans KR"/>
                <a:ea typeface="Noto Sans KR"/>
                <a:cs typeface="Noto Sans KR"/>
              </a:rPr>
              <a:t>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06039" y="2274570"/>
            <a:ext cx="3055467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eaLnBrk="0" latinLnBrk="0">
              <a:lnSpc>
                <a:spcPct val="120000"/>
              </a:lnSpc>
            </a:pPr>
            <a:r>
              <a:rPr sz="1600" b="1">
                <a:solidFill>
                  <a:srgbClr val="1D1D1F"/>
                </a:solidFill>
                <a:latin typeface="Noto Sans KR"/>
                <a:ea typeface="Noto Sans KR"/>
                <a:cs typeface="Noto Sans KR"/>
              </a:rPr>
              <a:t>아침 운동 (선택)</a:t>
            </a:r>
          </a:p>
          <a:p>
            <a:pPr algn="l" eaLnBrk="0" latinLnBrk="0">
              <a:lnSpc>
                <a:spcPct val="120000"/>
              </a:lnSpc>
            </a:pPr>
            <a:r>
              <a:rPr sz="1200" b="0">
                <a:solidFill>
                  <a:srgbClr val="7A7A7A"/>
                </a:solidFill>
                <a:latin typeface="Noto Sans KR"/>
                <a:ea typeface="Noto Sans KR"/>
                <a:cs typeface="Noto Sans KR"/>
              </a:rPr>
              <a:t>숙소 주변 러닝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3086100"/>
            <a:ext cx="4747107" cy="9144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086100"/>
            <a:ext cx="868680" cy="10744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eaLnBrk="0" latinLnBrk="0">
              <a:lnSpc>
                <a:spcPct val="100000"/>
              </a:lnSpc>
            </a:pPr>
            <a:r>
              <a:rPr sz="1500" b="1">
                <a:solidFill>
                  <a:srgbClr val="0066CC"/>
                </a:solidFill>
                <a:latin typeface="Noto Sans KR"/>
                <a:ea typeface="Noto Sans KR"/>
                <a:cs typeface="Noto Sans KR"/>
              </a:rPr>
              <a:t>08:30</a:t>
            </a:r>
          </a:p>
        </p:txBody>
      </p:sp>
      <p:sp>
        <p:nvSpPr>
          <p:cNvPr id="11" name="Oval 10"/>
          <p:cNvSpPr/>
          <p:nvPr/>
        </p:nvSpPr>
        <p:spPr>
          <a:xfrm>
            <a:off x="1828800" y="3339846"/>
            <a:ext cx="566928" cy="566928"/>
          </a:xfrm>
          <a:prstGeom prst="ellipse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28800" y="3339846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eaLnBrk="0" latinLnBrk="0">
              <a:lnSpc>
                <a:spcPct val="100000"/>
              </a:lnSpc>
            </a:pPr>
            <a:r>
              <a:rPr sz="1400" b="1">
                <a:solidFill>
                  <a:srgbClr val="7A7A7A"/>
                </a:solidFill>
                <a:latin typeface="Noto Sans KR"/>
                <a:ea typeface="Noto Sans KR"/>
                <a:cs typeface="Noto Sans KR"/>
              </a:rPr>
              <a:t>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06039" y="3348990"/>
            <a:ext cx="3055467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eaLnBrk="0" latinLnBrk="0">
              <a:lnSpc>
                <a:spcPct val="120000"/>
              </a:lnSpc>
            </a:pPr>
            <a:r>
              <a:rPr sz="1600" b="1">
                <a:solidFill>
                  <a:srgbClr val="1D1D1F"/>
                </a:solidFill>
                <a:latin typeface="Noto Sans KR"/>
                <a:ea typeface="Noto Sans KR"/>
                <a:cs typeface="Noto Sans KR"/>
              </a:rPr>
              <a:t>아침식사 &amp; 정비</a:t>
            </a:r>
          </a:p>
          <a:p>
            <a:pPr algn="l" eaLnBrk="0" latinLnBrk="0">
              <a:lnSpc>
                <a:spcPct val="120000"/>
              </a:lnSpc>
            </a:pPr>
            <a:r>
              <a:rPr sz="1200" b="0">
                <a:solidFill>
                  <a:srgbClr val="7A7A7A"/>
                </a:solidFill>
                <a:latin typeface="Noto Sans KR"/>
                <a:ea typeface="Noto Sans KR"/>
                <a:cs typeface="Noto Sans KR"/>
              </a:rPr>
              <a:t>숙소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4160520"/>
            <a:ext cx="4747107" cy="9144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160520"/>
            <a:ext cx="868680" cy="10744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eaLnBrk="0" latinLnBrk="0">
              <a:lnSpc>
                <a:spcPct val="100000"/>
              </a:lnSpc>
            </a:pPr>
            <a:r>
              <a:rPr sz="1500" b="1">
                <a:solidFill>
                  <a:srgbClr val="0066CC"/>
                </a:solidFill>
                <a:latin typeface="Noto Sans KR"/>
                <a:ea typeface="Noto Sans KR"/>
                <a:cs typeface="Noto Sans KR"/>
              </a:rPr>
              <a:t>09:30</a:t>
            </a:r>
          </a:p>
        </p:txBody>
      </p:sp>
      <p:sp>
        <p:nvSpPr>
          <p:cNvPr id="16" name="Oval 15"/>
          <p:cNvSpPr/>
          <p:nvPr/>
        </p:nvSpPr>
        <p:spPr>
          <a:xfrm>
            <a:off x="1828800" y="4414266"/>
            <a:ext cx="566928" cy="566928"/>
          </a:xfrm>
          <a:prstGeom prst="ellipse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828800" y="4414266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eaLnBrk="0" latinLnBrk="0">
              <a:lnSpc>
                <a:spcPct val="100000"/>
              </a:lnSpc>
            </a:pPr>
            <a:r>
              <a:rPr sz="1400" b="1">
                <a:solidFill>
                  <a:srgbClr val="7A7A7A"/>
                </a:solidFill>
                <a:latin typeface="Noto Sans KR"/>
                <a:ea typeface="Noto Sans KR"/>
                <a:cs typeface="Noto Sans KR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06039" y="4423410"/>
            <a:ext cx="3055467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eaLnBrk="0" latinLnBrk="0">
              <a:lnSpc>
                <a:spcPct val="120000"/>
              </a:lnSpc>
            </a:pPr>
            <a:r>
              <a:rPr sz="1600" b="1">
                <a:solidFill>
                  <a:srgbClr val="1D1D1F"/>
                </a:solidFill>
                <a:latin typeface="Noto Sans KR"/>
                <a:ea typeface="Noto Sans KR"/>
                <a:cs typeface="Noto Sans KR"/>
              </a:rPr>
              <a:t>퇴실 · 이동</a:t>
            </a:r>
          </a:p>
          <a:p>
            <a:pPr algn="l" eaLnBrk="0" latinLnBrk="0">
              <a:lnSpc>
                <a:spcPct val="120000"/>
              </a:lnSpc>
            </a:pPr>
            <a:r>
              <a:rPr sz="1200" b="0">
                <a:solidFill>
                  <a:srgbClr val="7A7A7A"/>
                </a:solidFill>
                <a:latin typeface="Noto Sans KR"/>
                <a:ea typeface="Noto Sans KR"/>
                <a:cs typeface="Noto Sans KR"/>
              </a:rPr>
              <a:t>체크아웃 11시까지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" y="5234940"/>
            <a:ext cx="4747107" cy="9144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234940"/>
            <a:ext cx="868680" cy="10744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eaLnBrk="0" latinLnBrk="0">
              <a:lnSpc>
                <a:spcPct val="100000"/>
              </a:lnSpc>
            </a:pPr>
            <a:r>
              <a:rPr sz="1500" b="1">
                <a:solidFill>
                  <a:srgbClr val="0066CC"/>
                </a:solidFill>
                <a:latin typeface="Noto Sans KR"/>
                <a:ea typeface="Noto Sans KR"/>
                <a:cs typeface="Noto Sans KR"/>
              </a:rPr>
              <a:t>10:00</a:t>
            </a:r>
          </a:p>
        </p:txBody>
      </p:sp>
      <p:pic>
        <p:nvPicPr>
          <p:cNvPr id="21" name="Picture 20" descr="횡성호수길 5구간"/>
          <p:cNvPicPr>
            <a:picLocks noChangeAspect="1"/>
          </p:cNvPicPr>
          <p:nvPr/>
        </p:nvPicPr>
        <p:blipFill>
          <a:blip r:embed="rId2"/>
          <a:srcRect l="16667" r="16667"/>
          <a:stretch>
            <a:fillRect/>
          </a:stretch>
        </p:blipFill>
        <p:spPr>
          <a:xfrm>
            <a:off x="1828800" y="5488686"/>
            <a:ext cx="566928" cy="566928"/>
          </a:xfrm>
          <a:prstGeom prst="roundRect">
            <a:avLst>
              <a:gd name="adj" fmla="val 50000"/>
            </a:avLst>
          </a:prstGeom>
        </p:spPr>
      </p:pic>
      <p:sp>
        <p:nvSpPr>
          <p:cNvPr id="22" name="TextBox 21"/>
          <p:cNvSpPr txBox="1"/>
          <p:nvPr/>
        </p:nvSpPr>
        <p:spPr>
          <a:xfrm>
            <a:off x="2606039" y="5497830"/>
            <a:ext cx="3055467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eaLnBrk="0" latinLnBrk="0">
              <a:lnSpc>
                <a:spcPct val="120000"/>
              </a:lnSpc>
            </a:pPr>
            <a:r>
              <a:rPr sz="1600" b="1">
                <a:solidFill>
                  <a:srgbClr val="1D1D1F"/>
                </a:solidFill>
                <a:latin typeface="Noto Sans KR"/>
                <a:ea typeface="Noto Sans KR"/>
                <a:cs typeface="Noto Sans KR"/>
              </a:rPr>
              <a:t>횡성호수길 5구간</a:t>
            </a:r>
          </a:p>
          <a:p>
            <a:pPr algn="l" eaLnBrk="0" latinLnBrk="0">
              <a:lnSpc>
                <a:spcPct val="120000"/>
              </a:lnSpc>
            </a:pPr>
            <a:r>
              <a:rPr sz="1200" b="0">
                <a:solidFill>
                  <a:srgbClr val="7A7A7A"/>
                </a:solidFill>
                <a:latin typeface="Noto Sans KR"/>
                <a:ea typeface="Noto Sans KR"/>
                <a:cs typeface="Noto Sans KR"/>
              </a:rPr>
              <a:t>팀빌딩 · 가족길 산책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55867" y="1920240"/>
            <a:ext cx="5295747" cy="4572000"/>
          </a:xfrm>
          <a:prstGeom prst="roundRect">
            <a:avLst>
              <a:gd name="adj" fmla="val 3599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0187" y="2011680"/>
            <a:ext cx="868680" cy="10744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eaLnBrk="0" latinLnBrk="0">
              <a:lnSpc>
                <a:spcPct val="100000"/>
              </a:lnSpc>
            </a:pPr>
            <a:r>
              <a:rPr sz="1500" b="1">
                <a:solidFill>
                  <a:srgbClr val="0066CC"/>
                </a:solidFill>
                <a:latin typeface="Noto Sans KR"/>
                <a:ea typeface="Noto Sans KR"/>
                <a:cs typeface="Noto Sans KR"/>
              </a:rPr>
              <a:t>12:30</a:t>
            </a:r>
          </a:p>
        </p:txBody>
      </p:sp>
      <p:pic>
        <p:nvPicPr>
          <p:cNvPr id="25" name="Picture 24" descr="점심 · 라오니아"/>
          <p:cNvPicPr>
            <a:picLocks noChangeAspect="1"/>
          </p:cNvPicPr>
          <p:nvPr/>
        </p:nvPicPr>
        <p:blipFill>
          <a:blip r:embed="rId3"/>
          <a:srcRect t="10044" b="10044"/>
          <a:stretch>
            <a:fillRect/>
          </a:stretch>
        </p:blipFill>
        <p:spPr>
          <a:xfrm>
            <a:off x="7444587" y="2265426"/>
            <a:ext cx="566928" cy="566928"/>
          </a:xfrm>
          <a:prstGeom prst="roundRect">
            <a:avLst>
              <a:gd name="adj" fmla="val 50000"/>
            </a:avLst>
          </a:prstGeom>
        </p:spPr>
      </p:pic>
      <p:sp>
        <p:nvSpPr>
          <p:cNvPr id="26" name="TextBox 25"/>
          <p:cNvSpPr txBox="1"/>
          <p:nvPr/>
        </p:nvSpPr>
        <p:spPr>
          <a:xfrm>
            <a:off x="8221827" y="2274570"/>
            <a:ext cx="3055467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eaLnBrk="0" latinLnBrk="0">
              <a:lnSpc>
                <a:spcPct val="120000"/>
              </a:lnSpc>
            </a:pPr>
            <a:r>
              <a:rPr sz="1600" b="1">
                <a:solidFill>
                  <a:srgbClr val="1D1D1F"/>
                </a:solidFill>
                <a:latin typeface="Noto Sans KR"/>
                <a:ea typeface="Noto Sans KR"/>
                <a:cs typeface="Noto Sans KR"/>
              </a:rPr>
              <a:t>점심 · 라오니아</a:t>
            </a:r>
          </a:p>
          <a:p>
            <a:pPr algn="l" eaLnBrk="0" latinLnBrk="0">
              <a:lnSpc>
                <a:spcPct val="120000"/>
              </a:lnSpc>
            </a:pPr>
            <a:r>
              <a:rPr sz="1200" b="0">
                <a:solidFill>
                  <a:srgbClr val="7A7A7A"/>
                </a:solidFill>
                <a:latin typeface="Noto Sans KR"/>
                <a:ea typeface="Noto Sans KR"/>
                <a:cs typeface="Noto Sans KR"/>
              </a:rPr>
              <a:t>한우 무한리필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30187" y="3086100"/>
            <a:ext cx="4747107" cy="9144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0187" y="3086100"/>
            <a:ext cx="868680" cy="10744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eaLnBrk="0" latinLnBrk="0">
              <a:lnSpc>
                <a:spcPct val="100000"/>
              </a:lnSpc>
            </a:pPr>
            <a:r>
              <a:rPr sz="1500" b="1">
                <a:solidFill>
                  <a:srgbClr val="0066CC"/>
                </a:solidFill>
                <a:latin typeface="Noto Sans KR"/>
                <a:ea typeface="Noto Sans KR"/>
                <a:cs typeface="Noto Sans KR"/>
              </a:rPr>
              <a:t>14:30</a:t>
            </a:r>
          </a:p>
        </p:txBody>
      </p:sp>
      <p:pic>
        <p:nvPicPr>
          <p:cNvPr id="29" name="Picture 28" descr="옵션 1 · 찐빵 만들기"/>
          <p:cNvPicPr>
            <a:picLocks noChangeAspect="1"/>
          </p:cNvPicPr>
          <p:nvPr/>
        </p:nvPicPr>
        <p:blipFill>
          <a:blip r:embed="rId4"/>
          <a:srcRect t="10033" b="10033"/>
          <a:stretch>
            <a:fillRect/>
          </a:stretch>
        </p:blipFill>
        <p:spPr>
          <a:xfrm>
            <a:off x="7444587" y="3339846"/>
            <a:ext cx="566928" cy="566928"/>
          </a:xfrm>
          <a:prstGeom prst="roundRect">
            <a:avLst>
              <a:gd name="adj" fmla="val 50000"/>
            </a:avLst>
          </a:prstGeom>
        </p:spPr>
      </p:pic>
      <p:sp>
        <p:nvSpPr>
          <p:cNvPr id="30" name="TextBox 29"/>
          <p:cNvSpPr txBox="1"/>
          <p:nvPr/>
        </p:nvSpPr>
        <p:spPr>
          <a:xfrm>
            <a:off x="8221827" y="3348990"/>
            <a:ext cx="3055467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eaLnBrk="0" latinLnBrk="0">
              <a:lnSpc>
                <a:spcPct val="120000"/>
              </a:lnSpc>
            </a:pPr>
            <a:r>
              <a:rPr sz="1600" b="1">
                <a:solidFill>
                  <a:srgbClr val="1D1D1F"/>
                </a:solidFill>
                <a:latin typeface="Noto Sans KR"/>
                <a:ea typeface="Noto Sans KR"/>
                <a:cs typeface="Noto Sans KR"/>
              </a:rPr>
              <a:t>옵션 1 · 찐빵 만들기</a:t>
            </a:r>
          </a:p>
          <a:p>
            <a:pPr algn="l" eaLnBrk="0" latinLnBrk="0">
              <a:lnSpc>
                <a:spcPct val="120000"/>
              </a:lnSpc>
            </a:pPr>
            <a:r>
              <a:rPr sz="1200" b="0">
                <a:solidFill>
                  <a:srgbClr val="7A7A7A"/>
                </a:solidFill>
                <a:latin typeface="Noto Sans KR"/>
                <a:ea typeface="Noto Sans KR"/>
                <a:cs typeface="Noto Sans KR"/>
              </a:rPr>
              <a:t>안흥찐빵 모락모락마을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30187" y="4160520"/>
            <a:ext cx="4747107" cy="9144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30187" y="4160520"/>
            <a:ext cx="868680" cy="10744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eaLnBrk="0" latinLnBrk="0">
              <a:lnSpc>
                <a:spcPct val="100000"/>
              </a:lnSpc>
            </a:pPr>
            <a:r>
              <a:rPr sz="1500" b="1">
                <a:solidFill>
                  <a:srgbClr val="7A7A7A"/>
                </a:solidFill>
                <a:latin typeface="Noto Sans KR"/>
                <a:ea typeface="Noto Sans KR"/>
                <a:cs typeface="Noto Sans KR"/>
              </a:rPr>
              <a:t>~15:30</a:t>
            </a:r>
          </a:p>
        </p:txBody>
      </p:sp>
      <p:pic>
        <p:nvPicPr>
          <p:cNvPr id="33" name="Picture 32" descr="옵션 2 · 카페"/>
          <p:cNvPicPr>
            <a:picLocks noChangeAspect="1"/>
          </p:cNvPicPr>
          <p:nvPr/>
        </p:nvPicPr>
        <p:blipFill>
          <a:blip r:embed="rId5"/>
          <a:srcRect t="22133" b="22133"/>
          <a:stretch>
            <a:fillRect/>
          </a:stretch>
        </p:blipFill>
        <p:spPr>
          <a:xfrm>
            <a:off x="7444587" y="4414266"/>
            <a:ext cx="566928" cy="566928"/>
          </a:xfrm>
          <a:prstGeom prst="roundRect">
            <a:avLst>
              <a:gd name="adj" fmla="val 50000"/>
            </a:avLst>
          </a:prstGeom>
        </p:spPr>
      </p:pic>
      <p:sp>
        <p:nvSpPr>
          <p:cNvPr id="34" name="TextBox 33"/>
          <p:cNvSpPr txBox="1"/>
          <p:nvPr/>
        </p:nvSpPr>
        <p:spPr>
          <a:xfrm>
            <a:off x="8221827" y="4423410"/>
            <a:ext cx="3055467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eaLnBrk="0" latinLnBrk="0">
              <a:lnSpc>
                <a:spcPct val="120000"/>
              </a:lnSpc>
            </a:pPr>
            <a:r>
              <a:rPr sz="1600" b="1">
                <a:solidFill>
                  <a:srgbClr val="1D1D1F"/>
                </a:solidFill>
                <a:latin typeface="Noto Sans KR"/>
                <a:ea typeface="Noto Sans KR"/>
                <a:cs typeface="Noto Sans KR"/>
              </a:rPr>
              <a:t>옵션 2 · 카페</a:t>
            </a:r>
          </a:p>
          <a:p>
            <a:pPr algn="l" eaLnBrk="0" latinLnBrk="0">
              <a:lnSpc>
                <a:spcPct val="120000"/>
              </a:lnSpc>
            </a:pPr>
            <a:r>
              <a:rPr sz="1200" b="0">
                <a:solidFill>
                  <a:srgbClr val="7A7A7A"/>
                </a:solidFill>
                <a:latin typeface="Noto Sans KR"/>
                <a:ea typeface="Noto Sans KR"/>
                <a:cs typeface="Noto Sans KR"/>
              </a:rPr>
              <a:t>산일리오 · 모스트석문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30187" y="5234940"/>
            <a:ext cx="4747107" cy="9144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30187" y="5234940"/>
            <a:ext cx="868680" cy="10744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eaLnBrk="0" latinLnBrk="0">
              <a:lnSpc>
                <a:spcPct val="100000"/>
              </a:lnSpc>
            </a:pPr>
            <a:r>
              <a:rPr sz="1500" b="1">
                <a:solidFill>
                  <a:srgbClr val="0066CC"/>
                </a:solidFill>
                <a:latin typeface="Noto Sans KR"/>
                <a:ea typeface="Noto Sans KR"/>
                <a:cs typeface="Noto Sans KR"/>
              </a:rPr>
              <a:t>15:30</a:t>
            </a:r>
          </a:p>
        </p:txBody>
      </p:sp>
      <p:sp>
        <p:nvSpPr>
          <p:cNvPr id="37" name="Oval 36"/>
          <p:cNvSpPr/>
          <p:nvPr/>
        </p:nvSpPr>
        <p:spPr>
          <a:xfrm>
            <a:off x="7444587" y="5488686"/>
            <a:ext cx="566928" cy="566928"/>
          </a:xfrm>
          <a:prstGeom prst="ellipse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444587" y="5488686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eaLnBrk="0" latinLnBrk="0">
              <a:lnSpc>
                <a:spcPct val="100000"/>
              </a:lnSpc>
            </a:pPr>
            <a:r>
              <a:rPr sz="1400" b="1">
                <a:solidFill>
                  <a:srgbClr val="7A7A7A"/>
                </a:solidFill>
                <a:latin typeface="Noto Sans KR"/>
                <a:ea typeface="Noto Sans KR"/>
                <a:cs typeface="Noto Sans KR"/>
              </a:rPr>
              <a:t>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1827" y="5497830"/>
            <a:ext cx="3055467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eaLnBrk="0" latinLnBrk="0">
              <a:lnSpc>
                <a:spcPct val="120000"/>
              </a:lnSpc>
            </a:pPr>
            <a:r>
              <a:rPr sz="1600" b="1">
                <a:solidFill>
                  <a:srgbClr val="1D1D1F"/>
                </a:solidFill>
                <a:latin typeface="Noto Sans KR"/>
                <a:ea typeface="Noto Sans KR"/>
                <a:cs typeface="Noto Sans KR"/>
              </a:rPr>
              <a:t>귀가</a:t>
            </a:r>
          </a:p>
          <a:p>
            <a:pPr algn="l" eaLnBrk="0" latinLnBrk="0">
              <a:lnSpc>
                <a:spcPct val="120000"/>
              </a:lnSpc>
            </a:pPr>
            <a:r>
              <a:rPr sz="1200" b="0">
                <a:solidFill>
                  <a:srgbClr val="7A7A7A"/>
                </a:solidFill>
                <a:latin typeface="Noto Sans KR"/>
                <a:ea typeface="Noto Sans KR"/>
                <a:cs typeface="Noto Sans KR"/>
              </a:rPr>
              <a:t>본부 · 시흥 도착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48640"/>
            <a:ext cx="121916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eaLnBrk="0" latinLnBrk="0">
              <a:lnSpc>
                <a:spcPct val="125000"/>
              </a:lnSpc>
            </a:pPr>
            <a:r>
              <a:rPr sz="1300" b="1" spc="80">
                <a:solidFill>
                  <a:srgbClr val="7A7A7A"/>
                </a:solidFill>
                <a:latin typeface="Noto Sans KR"/>
                <a:ea typeface="Noto Sans KR"/>
                <a:cs typeface="Noto Sans KR"/>
              </a:rPr>
              <a:t>BEFORE WE GO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896112"/>
            <a:ext cx="1219169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eaLnBrk="0" latinLnBrk="0">
              <a:lnSpc>
                <a:spcPct val="110000"/>
              </a:lnSpc>
            </a:pPr>
            <a:r>
              <a:rPr sz="4200" b="1" spc="-90">
                <a:solidFill>
                  <a:srgbClr val="1D1D1F"/>
                </a:solidFill>
                <a:latin typeface="Noto Sans KR"/>
                <a:ea typeface="Noto Sans KR"/>
                <a:cs typeface="Noto Sans KR"/>
              </a:rPr>
              <a:t>출발 전 안내사항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664208"/>
            <a:ext cx="121916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eaLnBrk="0" latinLnBrk="0">
              <a:lnSpc>
                <a:spcPct val="125000"/>
              </a:lnSpc>
            </a:pPr>
            <a:r>
              <a:rPr sz="1600" b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더 즐겁고 편안한 워크숍을 위해 꼭 확인해 주세요. 세부 내용은 확정되는 대로 채워질 예정이에요.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331720"/>
            <a:ext cx="2050633" cy="2834640"/>
          </a:xfrm>
          <a:prstGeom prst="roundRect">
            <a:avLst>
              <a:gd name="adj" fmla="val 8026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준비물 아이콘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578608"/>
            <a:ext cx="566928" cy="56692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3310128"/>
            <a:ext cx="1593433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 latinLnBrk="0">
              <a:lnSpc>
                <a:spcPct val="110000"/>
              </a:lnSpc>
            </a:pPr>
            <a:r>
              <a:rPr sz="2000" b="1" spc="-40">
                <a:solidFill>
                  <a:srgbClr val="1D1D1F"/>
                </a:solidFill>
                <a:latin typeface="Noto Sans KR"/>
                <a:ea typeface="Noto Sans KR"/>
                <a:cs typeface="Noto Sans KR"/>
              </a:rPr>
              <a:t>준비물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840480"/>
            <a:ext cx="1167130" cy="274320"/>
          </a:xfrm>
          <a:prstGeom prst="roundRect">
            <a:avLst>
              <a:gd name="adj" fmla="val 500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840480"/>
            <a:ext cx="116713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eaLnBrk="0" latinLnBrk="0">
              <a:lnSpc>
                <a:spcPct val="100000"/>
              </a:lnSpc>
            </a:pPr>
            <a:r>
              <a:rPr sz="1100" b="1">
                <a:solidFill>
                  <a:srgbClr val="7A7A7A"/>
                </a:solidFill>
                <a:latin typeface="Noto Sans KR"/>
                <a:ea typeface="Noto Sans KR"/>
                <a:cs typeface="Noto Sans KR"/>
              </a:rPr>
              <a:t>업데이트 예정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4370832"/>
            <a:ext cx="1381833" cy="91440"/>
          </a:xfrm>
          <a:prstGeom prst="roundRect">
            <a:avLst>
              <a:gd name="adj" fmla="val 50000"/>
            </a:avLst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14400" y="4590288"/>
            <a:ext cx="1111475" cy="91440"/>
          </a:xfrm>
          <a:prstGeom prst="roundRect">
            <a:avLst>
              <a:gd name="adj" fmla="val 50000"/>
            </a:avLst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14400" y="4809744"/>
            <a:ext cx="871156" cy="91440"/>
          </a:xfrm>
          <a:prstGeom prst="roundRect">
            <a:avLst>
              <a:gd name="adj" fmla="val 50000"/>
            </a:avLst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855305" y="2331720"/>
            <a:ext cx="2050633" cy="2834640"/>
          </a:xfrm>
          <a:prstGeom prst="roundRect">
            <a:avLst>
              <a:gd name="adj" fmla="val 8026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의상 아이콘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9625" y="2578608"/>
            <a:ext cx="566928" cy="56692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129625" y="3310128"/>
            <a:ext cx="1593433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 latinLnBrk="0">
              <a:lnSpc>
                <a:spcPct val="110000"/>
              </a:lnSpc>
            </a:pPr>
            <a:r>
              <a:rPr sz="2000" b="1" spc="-40">
                <a:solidFill>
                  <a:srgbClr val="1D1D1F"/>
                </a:solidFill>
                <a:latin typeface="Noto Sans KR"/>
                <a:ea typeface="Noto Sans KR"/>
                <a:cs typeface="Noto Sans KR"/>
              </a:rPr>
              <a:t>의상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129625" y="3840480"/>
            <a:ext cx="1167130" cy="274320"/>
          </a:xfrm>
          <a:prstGeom prst="roundRect">
            <a:avLst>
              <a:gd name="adj" fmla="val 500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129625" y="3840480"/>
            <a:ext cx="116713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eaLnBrk="0" latinLnBrk="0">
              <a:lnSpc>
                <a:spcPct val="100000"/>
              </a:lnSpc>
            </a:pPr>
            <a:r>
              <a:rPr sz="1100" b="1">
                <a:solidFill>
                  <a:srgbClr val="7A7A7A"/>
                </a:solidFill>
                <a:latin typeface="Noto Sans KR"/>
                <a:ea typeface="Noto Sans KR"/>
                <a:cs typeface="Noto Sans KR"/>
              </a:rPr>
              <a:t>업데이트 예정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129625" y="4370832"/>
            <a:ext cx="1381833" cy="91440"/>
          </a:xfrm>
          <a:prstGeom prst="roundRect">
            <a:avLst>
              <a:gd name="adj" fmla="val 50000"/>
            </a:avLst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129625" y="4590288"/>
            <a:ext cx="1111475" cy="91440"/>
          </a:xfrm>
          <a:prstGeom prst="roundRect">
            <a:avLst>
              <a:gd name="adj" fmla="val 50000"/>
            </a:avLst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129625" y="4809744"/>
            <a:ext cx="871156" cy="91440"/>
          </a:xfrm>
          <a:prstGeom prst="roundRect">
            <a:avLst>
              <a:gd name="adj" fmla="val 50000"/>
            </a:avLst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070530" y="2331720"/>
            <a:ext cx="2050633" cy="2834640"/>
          </a:xfrm>
          <a:prstGeom prst="roundRect">
            <a:avLst>
              <a:gd name="adj" fmla="val 8026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랜덤 선물 준비 아이콘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4850" y="2578608"/>
            <a:ext cx="566928" cy="566928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344850" y="3310128"/>
            <a:ext cx="1593433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 latinLnBrk="0">
              <a:lnSpc>
                <a:spcPct val="110000"/>
              </a:lnSpc>
            </a:pPr>
            <a:r>
              <a:rPr sz="2000" b="1" spc="-40">
                <a:solidFill>
                  <a:srgbClr val="1D1D1F"/>
                </a:solidFill>
                <a:latin typeface="Noto Sans KR"/>
                <a:ea typeface="Noto Sans KR"/>
                <a:cs typeface="Noto Sans KR"/>
              </a:rPr>
              <a:t>랜덤 선물 준비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344850" y="3840480"/>
            <a:ext cx="1167130" cy="274320"/>
          </a:xfrm>
          <a:prstGeom prst="roundRect">
            <a:avLst>
              <a:gd name="adj" fmla="val 500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44850" y="3840480"/>
            <a:ext cx="116713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eaLnBrk="0" latinLnBrk="0">
              <a:lnSpc>
                <a:spcPct val="100000"/>
              </a:lnSpc>
            </a:pPr>
            <a:r>
              <a:rPr sz="1100" b="1">
                <a:solidFill>
                  <a:srgbClr val="7A7A7A"/>
                </a:solidFill>
                <a:latin typeface="Noto Sans KR"/>
                <a:ea typeface="Noto Sans KR"/>
                <a:cs typeface="Noto Sans KR"/>
              </a:rPr>
              <a:t>업데이트 예정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344850" y="4370832"/>
            <a:ext cx="1381833" cy="91440"/>
          </a:xfrm>
          <a:prstGeom prst="roundRect">
            <a:avLst>
              <a:gd name="adj" fmla="val 50000"/>
            </a:avLst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344850" y="4590288"/>
            <a:ext cx="1111475" cy="91440"/>
          </a:xfrm>
          <a:prstGeom prst="roundRect">
            <a:avLst>
              <a:gd name="adj" fmla="val 50000"/>
            </a:avLst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344850" y="4809744"/>
            <a:ext cx="871156" cy="91440"/>
          </a:xfrm>
          <a:prstGeom prst="roundRect">
            <a:avLst>
              <a:gd name="adj" fmla="val 50000"/>
            </a:avLst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285756" y="2331720"/>
            <a:ext cx="2050633" cy="2834640"/>
          </a:xfrm>
          <a:prstGeom prst="roundRect">
            <a:avLst>
              <a:gd name="adj" fmla="val 8026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차량 아이콘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60076" y="2578608"/>
            <a:ext cx="566928" cy="566928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7560076" y="3310128"/>
            <a:ext cx="1593433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 latinLnBrk="0">
              <a:lnSpc>
                <a:spcPct val="110000"/>
              </a:lnSpc>
            </a:pPr>
            <a:r>
              <a:rPr sz="2000" b="1" spc="-40">
                <a:solidFill>
                  <a:srgbClr val="1D1D1F"/>
                </a:solidFill>
                <a:latin typeface="Noto Sans KR"/>
                <a:ea typeface="Noto Sans KR"/>
                <a:cs typeface="Noto Sans KR"/>
              </a:rPr>
              <a:t>차량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560076" y="3840480"/>
            <a:ext cx="1167130" cy="274320"/>
          </a:xfrm>
          <a:prstGeom prst="roundRect">
            <a:avLst>
              <a:gd name="adj" fmla="val 500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560076" y="3840480"/>
            <a:ext cx="116713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eaLnBrk="0" latinLnBrk="0">
              <a:lnSpc>
                <a:spcPct val="100000"/>
              </a:lnSpc>
            </a:pPr>
            <a:r>
              <a:rPr sz="1100" b="1">
                <a:solidFill>
                  <a:srgbClr val="7A7A7A"/>
                </a:solidFill>
                <a:latin typeface="Noto Sans KR"/>
                <a:ea typeface="Noto Sans KR"/>
                <a:cs typeface="Noto Sans KR"/>
              </a:rPr>
              <a:t>업데이트 예정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560076" y="4370832"/>
            <a:ext cx="1381833" cy="91440"/>
          </a:xfrm>
          <a:prstGeom prst="roundRect">
            <a:avLst>
              <a:gd name="adj" fmla="val 50000"/>
            </a:avLst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7560076" y="4590288"/>
            <a:ext cx="1111475" cy="91440"/>
          </a:xfrm>
          <a:prstGeom prst="roundRect">
            <a:avLst>
              <a:gd name="adj" fmla="val 50000"/>
            </a:avLst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7560076" y="4809744"/>
            <a:ext cx="871156" cy="91440"/>
          </a:xfrm>
          <a:prstGeom prst="roundRect">
            <a:avLst>
              <a:gd name="adj" fmla="val 50000"/>
            </a:avLst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9500981" y="2331720"/>
            <a:ext cx="2050633" cy="2834640"/>
          </a:xfrm>
          <a:prstGeom prst="roundRect">
            <a:avLst>
              <a:gd name="adj" fmla="val 8026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집결지 아이콘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75301" y="2578608"/>
            <a:ext cx="566928" cy="566928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9775301" y="3310128"/>
            <a:ext cx="1593433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 latinLnBrk="0">
              <a:lnSpc>
                <a:spcPct val="110000"/>
              </a:lnSpc>
            </a:pPr>
            <a:r>
              <a:rPr sz="2000" b="1" spc="-40">
                <a:solidFill>
                  <a:srgbClr val="1D1D1F"/>
                </a:solidFill>
                <a:latin typeface="Noto Sans KR"/>
                <a:ea typeface="Noto Sans KR"/>
                <a:cs typeface="Noto Sans KR"/>
              </a:rPr>
              <a:t>집결지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775301" y="3840480"/>
            <a:ext cx="1167130" cy="274320"/>
          </a:xfrm>
          <a:prstGeom prst="roundRect">
            <a:avLst>
              <a:gd name="adj" fmla="val 500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775301" y="3840480"/>
            <a:ext cx="116713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eaLnBrk="0" latinLnBrk="0">
              <a:lnSpc>
                <a:spcPct val="100000"/>
              </a:lnSpc>
            </a:pPr>
            <a:r>
              <a:rPr sz="1100" b="1">
                <a:solidFill>
                  <a:srgbClr val="7A7A7A"/>
                </a:solidFill>
                <a:latin typeface="Noto Sans KR"/>
                <a:ea typeface="Noto Sans KR"/>
                <a:cs typeface="Noto Sans KR"/>
              </a:rPr>
              <a:t>업데이트 예정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775301" y="4370832"/>
            <a:ext cx="1381833" cy="91440"/>
          </a:xfrm>
          <a:prstGeom prst="roundRect">
            <a:avLst>
              <a:gd name="adj" fmla="val 50000"/>
            </a:avLst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9775301" y="4590288"/>
            <a:ext cx="1111475" cy="91440"/>
          </a:xfrm>
          <a:prstGeom prst="roundRect">
            <a:avLst>
              <a:gd name="adj" fmla="val 50000"/>
            </a:avLst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9775301" y="4809744"/>
            <a:ext cx="871156" cy="91440"/>
          </a:xfrm>
          <a:prstGeom prst="roundRect">
            <a:avLst>
              <a:gd name="adj" fmla="val 50000"/>
            </a:avLst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0" y="5468112"/>
            <a:ext cx="1219169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eaLnBrk="0" latinLnBrk="0">
              <a:lnSpc>
                <a:spcPct val="110000"/>
              </a:lnSpc>
            </a:pPr>
            <a:r>
              <a:rPr sz="3000" b="0" spc="-80">
                <a:solidFill>
                  <a:srgbClr val="1D1D1F"/>
                </a:solidFill>
                <a:latin typeface="Noto Sans KR"/>
                <a:ea typeface="Noto Sans KR"/>
                <a:cs typeface="Noto Sans KR"/>
              </a:rPr>
              <a:t>좋은 사람들과, 좋은 곳에서, </a:t>
            </a:r>
            <a:r>
              <a:rPr sz="3000" b="1" spc="-80">
                <a:solidFill>
                  <a:srgbClr val="1D1D1F"/>
                </a:solidFill>
                <a:latin typeface="Noto Sans KR"/>
                <a:ea typeface="Noto Sans KR"/>
                <a:cs typeface="Noto Sans KR"/>
              </a:rPr>
              <a:t>더 좋은 우리.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0" y="6053328"/>
            <a:ext cx="121916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eaLnBrk="0" latinLnBrk="0">
              <a:lnSpc>
                <a:spcPct val="100000"/>
              </a:lnSpc>
            </a:pPr>
            <a:r>
              <a:rPr sz="1200" b="0">
                <a:solidFill>
                  <a:srgbClr val="7A7A7A"/>
                </a:solidFill>
                <a:latin typeface="Noto Sans KR"/>
                <a:ea typeface="Noto Sans KR"/>
                <a:cs typeface="Noto Sans KR"/>
              </a:rPr>
              <a:t>GiPA Team Workshop · Work Better, Together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0" y="6400800"/>
            <a:ext cx="121916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eaLnBrk="0" latinLnBrk="0">
              <a:lnSpc>
                <a:spcPct val="100000"/>
              </a:lnSpc>
            </a:pPr>
            <a:r>
              <a:rPr sz="1000" b="0">
                <a:solidFill>
                  <a:srgbClr val="7A7A7A"/>
                </a:solidFill>
                <a:latin typeface="Noto Sans KR"/>
                <a:ea typeface="Noto Sans KR"/>
                <a:cs typeface="Noto Sans KR"/>
              </a:rPr>
              <a:t>사진 출처: 네이버 플레이스 등록 사진, 위키미디어 커먼즈(풍수원성당 외관, CC0) · 팀 내부 안내용  |  일정은 현장 상황에 따라 조정될 수 있어요.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GiPA Team Workshop 2026</dc:title>
  <dc:subject/>
  <dc:creator>기업파트너십팀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